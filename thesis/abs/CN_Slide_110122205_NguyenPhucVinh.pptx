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63" r:id="rId5"/>
    <p:sldId id="276" r:id="rId6"/>
    <p:sldId id="265" r:id="rId7"/>
    <p:sldId id="277" r:id="rId8"/>
    <p:sldId id="278" r:id="rId9"/>
    <p:sldId id="279" r:id="rId10"/>
    <p:sldId id="266" r:id="rId11"/>
    <p:sldId id="280" r:id="rId12"/>
    <p:sldId id="268" r:id="rId13"/>
    <p:sldId id="285" r:id="rId14"/>
    <p:sldId id="286" r:id="rId15"/>
    <p:sldId id="288" r:id="rId16"/>
    <p:sldId id="287" r:id="rId17"/>
    <p:sldId id="289" r:id="rId18"/>
    <p:sldId id="290" r:id="rId19"/>
    <p:sldId id="269" r:id="rId20"/>
    <p:sldId id="270" r:id="rId21"/>
    <p:sldId id="26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Kiểu Trung bình 2 - Màu chủ đề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035" autoAdjust="0"/>
  </p:normalViewPr>
  <p:slideViewPr>
    <p:cSldViewPr snapToGrid="0">
      <p:cViewPr varScale="1">
        <p:scale>
          <a:sx n="78" d="100"/>
          <a:sy n="78" d="100"/>
        </p:scale>
        <p:origin x="850"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B0CFF-B151-4B57-9994-A84B291215E6}" type="datetimeFigureOut">
              <a:rPr lang="en-US" smtClean="0"/>
              <a:t>1/9/2026</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CD262E-BAD1-4E7A-B4A9-58F1BA4ACC89}" type="slidenum">
              <a:rPr lang="en-US" smtClean="0"/>
              <a:t>‹#›</a:t>
            </a:fld>
            <a:endParaRPr lang="en-US"/>
          </a:p>
        </p:txBody>
      </p:sp>
    </p:spTree>
    <p:extLst>
      <p:ext uri="{BB962C8B-B14F-4D97-AF65-F5344CB8AC3E}">
        <p14:creationId xmlns:p14="http://schemas.microsoft.com/office/powerpoint/2010/main" val="1350169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dirty="0"/>
          </a:p>
        </p:txBody>
      </p:sp>
      <p:sp>
        <p:nvSpPr>
          <p:cNvPr id="4" name="Chỗ dành sẵn cho Số hiệu Bản chiếu 3"/>
          <p:cNvSpPr>
            <a:spLocks noGrp="1"/>
          </p:cNvSpPr>
          <p:nvPr>
            <p:ph type="sldNum" sz="quarter" idx="5"/>
          </p:nvPr>
        </p:nvSpPr>
        <p:spPr/>
        <p:txBody>
          <a:bodyPr/>
          <a:lstStyle/>
          <a:p>
            <a:fld id="{B7CD262E-BAD1-4E7A-B4A9-58F1BA4ACC89}" type="slidenum">
              <a:rPr lang="en-US" smtClean="0"/>
              <a:t>1</a:t>
            </a:fld>
            <a:endParaRPr lang="en-US"/>
          </a:p>
        </p:txBody>
      </p:sp>
    </p:spTree>
    <p:extLst>
      <p:ext uri="{BB962C8B-B14F-4D97-AF65-F5344CB8AC3E}">
        <p14:creationId xmlns:p14="http://schemas.microsoft.com/office/powerpoint/2010/main" val="1408375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B7CD262E-BAD1-4E7A-B4A9-58F1BA4ACC89}" type="slidenum">
              <a:rPr lang="en-US" smtClean="0"/>
              <a:t>2</a:t>
            </a:fld>
            <a:endParaRPr lang="en-US"/>
          </a:p>
        </p:txBody>
      </p:sp>
    </p:spTree>
    <p:extLst>
      <p:ext uri="{BB962C8B-B14F-4D97-AF65-F5344CB8AC3E}">
        <p14:creationId xmlns:p14="http://schemas.microsoft.com/office/powerpoint/2010/main" val="393100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B7CD262E-BAD1-4E7A-B4A9-58F1BA4ACC89}" type="slidenum">
              <a:rPr lang="en-US" smtClean="0"/>
              <a:t>3</a:t>
            </a:fld>
            <a:endParaRPr lang="en-US"/>
          </a:p>
        </p:txBody>
      </p:sp>
    </p:spTree>
    <p:extLst>
      <p:ext uri="{BB962C8B-B14F-4D97-AF65-F5344CB8AC3E}">
        <p14:creationId xmlns:p14="http://schemas.microsoft.com/office/powerpoint/2010/main" val="779671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00620-C851-5804-2FC2-9E4FD28ED5A6}"/>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C65BA681-9A58-8283-C1B1-91A3226E357C}"/>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62658C33-8406-2A70-0A9A-8EAC678B465F}"/>
              </a:ext>
            </a:extLst>
          </p:cNvPr>
          <p:cNvSpPr>
            <a:spLocks noGrp="1"/>
          </p:cNvSpPr>
          <p:nvPr>
            <p:ph type="body" idx="1"/>
          </p:nvPr>
        </p:nvSpPr>
        <p:spPr/>
        <p:txBody>
          <a:bodyPr/>
          <a:lstStyle/>
          <a:p>
            <a:endParaRPr lang="en-US" dirty="0"/>
          </a:p>
        </p:txBody>
      </p:sp>
      <p:sp>
        <p:nvSpPr>
          <p:cNvPr id="4" name="Chỗ dành sẵn cho Số hiệu Bản chiếu 3">
            <a:extLst>
              <a:ext uri="{FF2B5EF4-FFF2-40B4-BE49-F238E27FC236}">
                <a16:creationId xmlns:a16="http://schemas.microsoft.com/office/drawing/2014/main" id="{67F3F0C7-EB47-C6D3-923A-65C649A0025F}"/>
              </a:ext>
            </a:extLst>
          </p:cNvPr>
          <p:cNvSpPr>
            <a:spLocks noGrp="1"/>
          </p:cNvSpPr>
          <p:nvPr>
            <p:ph type="sldNum" sz="quarter" idx="5"/>
          </p:nvPr>
        </p:nvSpPr>
        <p:spPr/>
        <p:txBody>
          <a:bodyPr/>
          <a:lstStyle/>
          <a:p>
            <a:fld id="{B7CD262E-BAD1-4E7A-B4A9-58F1BA4ACC89}" type="slidenum">
              <a:rPr lang="en-US" smtClean="0"/>
              <a:t>4</a:t>
            </a:fld>
            <a:endParaRPr lang="en-US"/>
          </a:p>
        </p:txBody>
      </p:sp>
    </p:spTree>
    <p:extLst>
      <p:ext uri="{BB962C8B-B14F-4D97-AF65-F5344CB8AC3E}">
        <p14:creationId xmlns:p14="http://schemas.microsoft.com/office/powerpoint/2010/main" val="2969931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12985-7D09-3A6A-39E1-D153DC2FE4C5}"/>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601CEFCA-9B9B-689B-BE7E-4756CA90834B}"/>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B5C476A6-AF81-BC4C-FC53-412290FFD20E}"/>
              </a:ext>
            </a:extLst>
          </p:cNvPr>
          <p:cNvSpPr>
            <a:spLocks noGrp="1"/>
          </p:cNvSpPr>
          <p:nvPr>
            <p:ph type="body" idx="1"/>
          </p:nvPr>
        </p:nvSpPr>
        <p:spPr/>
        <p:txBody>
          <a:bodyPr/>
          <a:lstStyle/>
          <a:p>
            <a:endParaRPr lang="en-US" dirty="0"/>
          </a:p>
        </p:txBody>
      </p:sp>
      <p:sp>
        <p:nvSpPr>
          <p:cNvPr id="4" name="Chỗ dành sẵn cho Số hiệu Bản chiếu 3">
            <a:extLst>
              <a:ext uri="{FF2B5EF4-FFF2-40B4-BE49-F238E27FC236}">
                <a16:creationId xmlns:a16="http://schemas.microsoft.com/office/drawing/2014/main" id="{BA2FC258-0FBC-39D6-5432-CA761B62F79A}"/>
              </a:ext>
            </a:extLst>
          </p:cNvPr>
          <p:cNvSpPr>
            <a:spLocks noGrp="1"/>
          </p:cNvSpPr>
          <p:nvPr>
            <p:ph type="sldNum" sz="quarter" idx="5"/>
          </p:nvPr>
        </p:nvSpPr>
        <p:spPr/>
        <p:txBody>
          <a:bodyPr/>
          <a:lstStyle/>
          <a:p>
            <a:fld id="{B7CD262E-BAD1-4E7A-B4A9-58F1BA4ACC89}" type="slidenum">
              <a:rPr lang="en-US" smtClean="0"/>
              <a:t>5</a:t>
            </a:fld>
            <a:endParaRPr lang="en-US"/>
          </a:p>
        </p:txBody>
      </p:sp>
    </p:spTree>
    <p:extLst>
      <p:ext uri="{BB962C8B-B14F-4D97-AF65-F5344CB8AC3E}">
        <p14:creationId xmlns:p14="http://schemas.microsoft.com/office/powerpoint/2010/main" val="28286603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873FB-8282-A7C2-8BB2-D109381C3709}"/>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4CF5C0BC-031D-DE47-1764-F38A5BA16106}"/>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251054FD-56C2-E0F7-62D4-D89600A36EAC}"/>
              </a:ext>
            </a:extLst>
          </p:cNvPr>
          <p:cNvSpPr>
            <a:spLocks noGrp="1"/>
          </p:cNvSpPr>
          <p:nvPr>
            <p:ph type="body" idx="1"/>
          </p:nvPr>
        </p:nvSpPr>
        <p:spPr/>
        <p:txBody>
          <a:bodyPr/>
          <a:lstStyle/>
          <a:p>
            <a:endParaRPr lang="en-US" dirty="0"/>
          </a:p>
        </p:txBody>
      </p:sp>
      <p:sp>
        <p:nvSpPr>
          <p:cNvPr id="4" name="Chỗ dành sẵn cho Số hiệu Bản chiếu 3">
            <a:extLst>
              <a:ext uri="{FF2B5EF4-FFF2-40B4-BE49-F238E27FC236}">
                <a16:creationId xmlns:a16="http://schemas.microsoft.com/office/drawing/2014/main" id="{CDE2154F-D223-CB91-990D-59BECA124263}"/>
              </a:ext>
            </a:extLst>
          </p:cNvPr>
          <p:cNvSpPr>
            <a:spLocks noGrp="1"/>
          </p:cNvSpPr>
          <p:nvPr>
            <p:ph type="sldNum" sz="quarter" idx="5"/>
          </p:nvPr>
        </p:nvSpPr>
        <p:spPr/>
        <p:txBody>
          <a:bodyPr/>
          <a:lstStyle/>
          <a:p>
            <a:fld id="{B7CD262E-BAD1-4E7A-B4A9-58F1BA4ACC89}" type="slidenum">
              <a:rPr lang="en-US" smtClean="0"/>
              <a:t>6</a:t>
            </a:fld>
            <a:endParaRPr lang="en-US"/>
          </a:p>
        </p:txBody>
      </p:sp>
    </p:spTree>
    <p:extLst>
      <p:ext uri="{BB962C8B-B14F-4D97-AF65-F5344CB8AC3E}">
        <p14:creationId xmlns:p14="http://schemas.microsoft.com/office/powerpoint/2010/main" val="35459579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7336C-669B-5C42-DD45-778D6707F2D8}"/>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5CB2BD07-C7D1-DE9D-A6EB-4079138466AA}"/>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DB8C4871-F2DA-31C7-997E-395248F43FB0}"/>
              </a:ext>
            </a:extLst>
          </p:cNvPr>
          <p:cNvSpPr>
            <a:spLocks noGrp="1"/>
          </p:cNvSpPr>
          <p:nvPr>
            <p:ph type="body" idx="1"/>
          </p:nvPr>
        </p:nvSpPr>
        <p:spPr/>
        <p:txBody>
          <a:bodyPr/>
          <a:lstStyle/>
          <a:p>
            <a:endParaRPr lang="en-US" dirty="0"/>
          </a:p>
        </p:txBody>
      </p:sp>
      <p:sp>
        <p:nvSpPr>
          <p:cNvPr id="4" name="Chỗ dành sẵn cho Số hiệu Bản chiếu 3">
            <a:extLst>
              <a:ext uri="{FF2B5EF4-FFF2-40B4-BE49-F238E27FC236}">
                <a16:creationId xmlns:a16="http://schemas.microsoft.com/office/drawing/2014/main" id="{015C71CD-41CC-D666-30BB-1C2A9FF3F255}"/>
              </a:ext>
            </a:extLst>
          </p:cNvPr>
          <p:cNvSpPr>
            <a:spLocks noGrp="1"/>
          </p:cNvSpPr>
          <p:nvPr>
            <p:ph type="sldNum" sz="quarter" idx="5"/>
          </p:nvPr>
        </p:nvSpPr>
        <p:spPr/>
        <p:txBody>
          <a:bodyPr/>
          <a:lstStyle/>
          <a:p>
            <a:fld id="{B7CD262E-BAD1-4E7A-B4A9-58F1BA4ACC89}" type="slidenum">
              <a:rPr lang="en-US" smtClean="0"/>
              <a:t>7</a:t>
            </a:fld>
            <a:endParaRPr lang="en-US"/>
          </a:p>
        </p:txBody>
      </p:sp>
    </p:spTree>
    <p:extLst>
      <p:ext uri="{BB962C8B-B14F-4D97-AF65-F5344CB8AC3E}">
        <p14:creationId xmlns:p14="http://schemas.microsoft.com/office/powerpoint/2010/main" val="2031764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F6E42-550D-A2C5-7FD3-A971581E3AC0}"/>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CE545D73-4B4C-3715-DDF2-895F8B41AFED}"/>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34B1024C-69C4-AA02-B2B0-54BE95392833}"/>
              </a:ext>
            </a:extLst>
          </p:cNvPr>
          <p:cNvSpPr>
            <a:spLocks noGrp="1"/>
          </p:cNvSpPr>
          <p:nvPr>
            <p:ph type="body" idx="1"/>
          </p:nvPr>
        </p:nvSpPr>
        <p:spPr/>
        <p:txBody>
          <a:bodyPr/>
          <a:lstStyle/>
          <a:p>
            <a:endParaRPr lang="en-US" dirty="0"/>
          </a:p>
        </p:txBody>
      </p:sp>
      <p:sp>
        <p:nvSpPr>
          <p:cNvPr id="4" name="Chỗ dành sẵn cho Số hiệu Bản chiếu 3">
            <a:extLst>
              <a:ext uri="{FF2B5EF4-FFF2-40B4-BE49-F238E27FC236}">
                <a16:creationId xmlns:a16="http://schemas.microsoft.com/office/drawing/2014/main" id="{112057A3-AE6D-D3E3-FAFD-E2D48C4CDCA1}"/>
              </a:ext>
            </a:extLst>
          </p:cNvPr>
          <p:cNvSpPr>
            <a:spLocks noGrp="1"/>
          </p:cNvSpPr>
          <p:nvPr>
            <p:ph type="sldNum" sz="quarter" idx="5"/>
          </p:nvPr>
        </p:nvSpPr>
        <p:spPr/>
        <p:txBody>
          <a:bodyPr/>
          <a:lstStyle/>
          <a:p>
            <a:fld id="{B7CD262E-BAD1-4E7A-B4A9-58F1BA4ACC89}" type="slidenum">
              <a:rPr lang="en-US" smtClean="0"/>
              <a:t>8</a:t>
            </a:fld>
            <a:endParaRPr lang="en-US"/>
          </a:p>
        </p:txBody>
      </p:sp>
    </p:spTree>
    <p:extLst>
      <p:ext uri="{BB962C8B-B14F-4D97-AF65-F5344CB8AC3E}">
        <p14:creationId xmlns:p14="http://schemas.microsoft.com/office/powerpoint/2010/main" val="3980511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8CCDD-E7D4-AC96-528F-B4E696BE82F4}"/>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0FC3B251-58DE-B61C-A5B0-DC8882A614FC}"/>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9D4E713A-D166-ECBA-997B-22948E6EFD1B}"/>
              </a:ext>
            </a:extLst>
          </p:cNvPr>
          <p:cNvSpPr>
            <a:spLocks noGrp="1"/>
          </p:cNvSpPr>
          <p:nvPr>
            <p:ph type="body" idx="1"/>
          </p:nvPr>
        </p:nvSpPr>
        <p:spPr/>
        <p:txBody>
          <a:bodyPr/>
          <a:lstStyle/>
          <a:p>
            <a:endParaRPr lang="en-US" dirty="0"/>
          </a:p>
        </p:txBody>
      </p:sp>
      <p:sp>
        <p:nvSpPr>
          <p:cNvPr id="4" name="Chỗ dành sẵn cho Số hiệu Bản chiếu 3">
            <a:extLst>
              <a:ext uri="{FF2B5EF4-FFF2-40B4-BE49-F238E27FC236}">
                <a16:creationId xmlns:a16="http://schemas.microsoft.com/office/drawing/2014/main" id="{ECD2A0AC-50E8-21F7-8A27-3556FA8EC9B4}"/>
              </a:ext>
            </a:extLst>
          </p:cNvPr>
          <p:cNvSpPr>
            <a:spLocks noGrp="1"/>
          </p:cNvSpPr>
          <p:nvPr>
            <p:ph type="sldNum" sz="quarter" idx="5"/>
          </p:nvPr>
        </p:nvSpPr>
        <p:spPr/>
        <p:txBody>
          <a:bodyPr/>
          <a:lstStyle/>
          <a:p>
            <a:fld id="{B7CD262E-BAD1-4E7A-B4A9-58F1BA4ACC89}" type="slidenum">
              <a:rPr lang="en-US" smtClean="0"/>
              <a:t>9</a:t>
            </a:fld>
            <a:endParaRPr lang="en-US"/>
          </a:p>
        </p:txBody>
      </p:sp>
    </p:spTree>
    <p:extLst>
      <p:ext uri="{BB962C8B-B14F-4D97-AF65-F5344CB8AC3E}">
        <p14:creationId xmlns:p14="http://schemas.microsoft.com/office/powerpoint/2010/main" val="31929167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45431-4277-B917-6355-FD6EB7E2F35D}"/>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E50CBDE9-4911-B6E3-1191-524860774D61}"/>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0949306C-EA9E-E586-F176-1C90B807B9BD}"/>
              </a:ext>
            </a:extLst>
          </p:cNvPr>
          <p:cNvSpPr>
            <a:spLocks noGrp="1"/>
          </p:cNvSpPr>
          <p:nvPr>
            <p:ph type="body" idx="1"/>
          </p:nvPr>
        </p:nvSpPr>
        <p:spPr/>
        <p:txBody>
          <a:bodyPr/>
          <a:lstStyle/>
          <a:p>
            <a:endParaRPr lang="en-US" dirty="0"/>
          </a:p>
        </p:txBody>
      </p:sp>
      <p:sp>
        <p:nvSpPr>
          <p:cNvPr id="4" name="Chỗ dành sẵn cho Số hiệu Bản chiếu 3">
            <a:extLst>
              <a:ext uri="{FF2B5EF4-FFF2-40B4-BE49-F238E27FC236}">
                <a16:creationId xmlns:a16="http://schemas.microsoft.com/office/drawing/2014/main" id="{48B2225C-E492-BE8D-9CF2-D984A3A4736D}"/>
              </a:ext>
            </a:extLst>
          </p:cNvPr>
          <p:cNvSpPr>
            <a:spLocks noGrp="1"/>
          </p:cNvSpPr>
          <p:nvPr>
            <p:ph type="sldNum" sz="quarter" idx="5"/>
          </p:nvPr>
        </p:nvSpPr>
        <p:spPr/>
        <p:txBody>
          <a:bodyPr/>
          <a:lstStyle/>
          <a:p>
            <a:fld id="{B7CD262E-BAD1-4E7A-B4A9-58F1BA4ACC89}" type="slidenum">
              <a:rPr lang="en-US" smtClean="0"/>
              <a:t>10</a:t>
            </a:fld>
            <a:endParaRPr lang="en-US"/>
          </a:p>
        </p:txBody>
      </p:sp>
    </p:spTree>
    <p:extLst>
      <p:ext uri="{BB962C8B-B14F-4D97-AF65-F5344CB8AC3E}">
        <p14:creationId xmlns:p14="http://schemas.microsoft.com/office/powerpoint/2010/main" val="3248961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7DC1D-0F35-63F8-30CB-766153E9BD38}"/>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50738F87-B37F-1335-0CF5-34CFC54D28BA}"/>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11BD4C96-00AA-C234-48E3-1B476E121105}"/>
              </a:ext>
            </a:extLst>
          </p:cNvPr>
          <p:cNvSpPr>
            <a:spLocks noGrp="1"/>
          </p:cNvSpPr>
          <p:nvPr>
            <p:ph type="body" idx="1"/>
          </p:nvPr>
        </p:nvSpPr>
        <p:spPr/>
        <p:txBody>
          <a:bodyPr/>
          <a:lstStyle/>
          <a:p>
            <a:endParaRPr lang="en-US" dirty="0"/>
          </a:p>
        </p:txBody>
      </p:sp>
      <p:sp>
        <p:nvSpPr>
          <p:cNvPr id="4" name="Chỗ dành sẵn cho Số hiệu Bản chiếu 3">
            <a:extLst>
              <a:ext uri="{FF2B5EF4-FFF2-40B4-BE49-F238E27FC236}">
                <a16:creationId xmlns:a16="http://schemas.microsoft.com/office/drawing/2014/main" id="{6030E197-E2E9-CACC-61DD-83709280115C}"/>
              </a:ext>
            </a:extLst>
          </p:cNvPr>
          <p:cNvSpPr>
            <a:spLocks noGrp="1"/>
          </p:cNvSpPr>
          <p:nvPr>
            <p:ph type="sldNum" sz="quarter" idx="5"/>
          </p:nvPr>
        </p:nvSpPr>
        <p:spPr/>
        <p:txBody>
          <a:bodyPr/>
          <a:lstStyle/>
          <a:p>
            <a:fld id="{B7CD262E-BAD1-4E7A-B4A9-58F1BA4ACC89}" type="slidenum">
              <a:rPr lang="en-US" smtClean="0"/>
              <a:t>11</a:t>
            </a:fld>
            <a:endParaRPr lang="en-US"/>
          </a:p>
        </p:txBody>
      </p:sp>
    </p:spTree>
    <p:extLst>
      <p:ext uri="{BB962C8B-B14F-4D97-AF65-F5344CB8AC3E}">
        <p14:creationId xmlns:p14="http://schemas.microsoft.com/office/powerpoint/2010/main" val="4237142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526C6-2DC6-E2B2-4AEB-5AAA879CC8F5}"/>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FBDC2C66-48B0-BE1A-7DC4-7A3928E0F6E9}"/>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800FD5C5-B8CF-DC74-78E3-AD3880D55085}"/>
              </a:ext>
            </a:extLst>
          </p:cNvPr>
          <p:cNvSpPr>
            <a:spLocks noGrp="1"/>
          </p:cNvSpPr>
          <p:nvPr>
            <p:ph type="body" idx="1"/>
          </p:nvPr>
        </p:nvSpPr>
        <p:spPr/>
        <p:txBody>
          <a:bodyPr/>
          <a:lstStyle/>
          <a:p>
            <a:endParaRPr lang="en-US" dirty="0"/>
          </a:p>
        </p:txBody>
      </p:sp>
      <p:sp>
        <p:nvSpPr>
          <p:cNvPr id="4" name="Chỗ dành sẵn cho Số hiệu Bản chiếu 3">
            <a:extLst>
              <a:ext uri="{FF2B5EF4-FFF2-40B4-BE49-F238E27FC236}">
                <a16:creationId xmlns:a16="http://schemas.microsoft.com/office/drawing/2014/main" id="{B5B44569-6F41-FCF6-6D9E-1AD449A65DDF}"/>
              </a:ext>
            </a:extLst>
          </p:cNvPr>
          <p:cNvSpPr>
            <a:spLocks noGrp="1"/>
          </p:cNvSpPr>
          <p:nvPr>
            <p:ph type="sldNum" sz="quarter" idx="5"/>
          </p:nvPr>
        </p:nvSpPr>
        <p:spPr/>
        <p:txBody>
          <a:bodyPr/>
          <a:lstStyle/>
          <a:p>
            <a:fld id="{B7CD262E-BAD1-4E7A-B4A9-58F1BA4ACC89}" type="slidenum">
              <a:rPr lang="en-US" smtClean="0"/>
              <a:t>12</a:t>
            </a:fld>
            <a:endParaRPr lang="en-US"/>
          </a:p>
        </p:txBody>
      </p:sp>
    </p:spTree>
    <p:extLst>
      <p:ext uri="{BB962C8B-B14F-4D97-AF65-F5344CB8AC3E}">
        <p14:creationId xmlns:p14="http://schemas.microsoft.com/office/powerpoint/2010/main" val="10414851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8CF28-810A-3C8A-EBC0-BD8FBBC54C75}"/>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85343FE0-BEBE-1F4B-5754-6F361103B5FD}"/>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CDAAC593-1A26-6F29-948C-064FD4C8D67A}"/>
              </a:ext>
            </a:extLst>
          </p:cNvPr>
          <p:cNvSpPr>
            <a:spLocks noGrp="1"/>
          </p:cNvSpPr>
          <p:nvPr>
            <p:ph type="body" idx="1"/>
          </p:nvPr>
        </p:nvSpPr>
        <p:spPr/>
        <p:txBody>
          <a:bodyPr/>
          <a:lstStyle/>
          <a:p>
            <a:endParaRPr lang="en-US" dirty="0"/>
          </a:p>
        </p:txBody>
      </p:sp>
      <p:sp>
        <p:nvSpPr>
          <p:cNvPr id="4" name="Chỗ dành sẵn cho Số hiệu Bản chiếu 3">
            <a:extLst>
              <a:ext uri="{FF2B5EF4-FFF2-40B4-BE49-F238E27FC236}">
                <a16:creationId xmlns:a16="http://schemas.microsoft.com/office/drawing/2014/main" id="{1080357F-6553-5B94-5EE2-C28A8D2A2797}"/>
              </a:ext>
            </a:extLst>
          </p:cNvPr>
          <p:cNvSpPr>
            <a:spLocks noGrp="1"/>
          </p:cNvSpPr>
          <p:nvPr>
            <p:ph type="sldNum" sz="quarter" idx="5"/>
          </p:nvPr>
        </p:nvSpPr>
        <p:spPr/>
        <p:txBody>
          <a:bodyPr/>
          <a:lstStyle/>
          <a:p>
            <a:fld id="{B7CD262E-BAD1-4E7A-B4A9-58F1BA4ACC89}" type="slidenum">
              <a:rPr lang="en-US" smtClean="0"/>
              <a:t>19</a:t>
            </a:fld>
            <a:endParaRPr lang="en-US"/>
          </a:p>
        </p:txBody>
      </p:sp>
    </p:spTree>
    <p:extLst>
      <p:ext uri="{BB962C8B-B14F-4D97-AF65-F5344CB8AC3E}">
        <p14:creationId xmlns:p14="http://schemas.microsoft.com/office/powerpoint/2010/main" val="31134581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D6253-F824-6C56-6AFA-B9999DACC40D}"/>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48CA5F76-1533-E932-7130-E90C36FF1EFC}"/>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3C81ED6E-BAF0-B534-CCBC-5434B6953DFC}"/>
              </a:ext>
            </a:extLst>
          </p:cNvPr>
          <p:cNvSpPr>
            <a:spLocks noGrp="1"/>
          </p:cNvSpPr>
          <p:nvPr>
            <p:ph type="body" idx="1"/>
          </p:nvPr>
        </p:nvSpPr>
        <p:spPr/>
        <p:txBody>
          <a:bodyPr/>
          <a:lstStyle/>
          <a:p>
            <a:endParaRPr lang="en-US" dirty="0"/>
          </a:p>
        </p:txBody>
      </p:sp>
      <p:sp>
        <p:nvSpPr>
          <p:cNvPr id="4" name="Chỗ dành sẵn cho Số hiệu Bản chiếu 3">
            <a:extLst>
              <a:ext uri="{FF2B5EF4-FFF2-40B4-BE49-F238E27FC236}">
                <a16:creationId xmlns:a16="http://schemas.microsoft.com/office/drawing/2014/main" id="{6ABD4EAE-CBF0-80E1-6137-5EDE8D6CC4A6}"/>
              </a:ext>
            </a:extLst>
          </p:cNvPr>
          <p:cNvSpPr>
            <a:spLocks noGrp="1"/>
          </p:cNvSpPr>
          <p:nvPr>
            <p:ph type="sldNum" sz="quarter" idx="5"/>
          </p:nvPr>
        </p:nvSpPr>
        <p:spPr/>
        <p:txBody>
          <a:bodyPr/>
          <a:lstStyle/>
          <a:p>
            <a:fld id="{B7CD262E-BAD1-4E7A-B4A9-58F1BA4ACC89}" type="slidenum">
              <a:rPr lang="en-US" smtClean="0"/>
              <a:t>20</a:t>
            </a:fld>
            <a:endParaRPr lang="en-US"/>
          </a:p>
        </p:txBody>
      </p:sp>
    </p:spTree>
    <p:extLst>
      <p:ext uri="{BB962C8B-B14F-4D97-AF65-F5344CB8AC3E}">
        <p14:creationId xmlns:p14="http://schemas.microsoft.com/office/powerpoint/2010/main" val="38992944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B7CD262E-BAD1-4E7A-B4A9-58F1BA4ACC89}" type="slidenum">
              <a:rPr lang="en-US" smtClean="0"/>
              <a:t>21</a:t>
            </a:fld>
            <a:endParaRPr lang="en-US"/>
          </a:p>
        </p:txBody>
      </p:sp>
    </p:spTree>
    <p:extLst>
      <p:ext uri="{BB962C8B-B14F-4D97-AF65-F5344CB8AC3E}">
        <p14:creationId xmlns:p14="http://schemas.microsoft.com/office/powerpoint/2010/main" val="1594954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66F81BC-CC8C-3F0E-8197-F7252E58AFB6}"/>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endParaRPr lang="en-US"/>
          </a:p>
        </p:txBody>
      </p:sp>
      <p:sp>
        <p:nvSpPr>
          <p:cNvPr id="3" name="Tiêu đề phụ 2">
            <a:extLst>
              <a:ext uri="{FF2B5EF4-FFF2-40B4-BE49-F238E27FC236}">
                <a16:creationId xmlns:a16="http://schemas.microsoft.com/office/drawing/2014/main" id="{F6D73999-B725-CF98-B016-A2ADA9C920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endParaRPr lang="en-US"/>
          </a:p>
        </p:txBody>
      </p:sp>
      <p:sp>
        <p:nvSpPr>
          <p:cNvPr id="4" name="Chỗ dành sẵn cho Ngày tháng 3">
            <a:extLst>
              <a:ext uri="{FF2B5EF4-FFF2-40B4-BE49-F238E27FC236}">
                <a16:creationId xmlns:a16="http://schemas.microsoft.com/office/drawing/2014/main" id="{9B259779-2FE2-2D76-7BE1-BB7A45A829BD}"/>
              </a:ext>
            </a:extLst>
          </p:cNvPr>
          <p:cNvSpPr>
            <a:spLocks noGrp="1"/>
          </p:cNvSpPr>
          <p:nvPr>
            <p:ph type="dt" sz="half" idx="10"/>
          </p:nvPr>
        </p:nvSpPr>
        <p:spPr/>
        <p:txBody>
          <a:bodyPr/>
          <a:lstStyle/>
          <a:p>
            <a:fld id="{FBFCBD50-BA3A-4F00-8C93-5273BC06DCF9}" type="datetimeFigureOut">
              <a:rPr lang="en-US" smtClean="0"/>
              <a:t>1/9/2026</a:t>
            </a:fld>
            <a:endParaRPr lang="en-US"/>
          </a:p>
        </p:txBody>
      </p:sp>
      <p:sp>
        <p:nvSpPr>
          <p:cNvPr id="5" name="Chỗ dành sẵn cho Chân trang 4">
            <a:extLst>
              <a:ext uri="{FF2B5EF4-FFF2-40B4-BE49-F238E27FC236}">
                <a16:creationId xmlns:a16="http://schemas.microsoft.com/office/drawing/2014/main" id="{889ECAEA-6801-B5FC-16E4-5626E02E82DB}"/>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0E98C16A-8C07-66DE-1B5E-CC7ECC93B125}"/>
              </a:ext>
            </a:extLst>
          </p:cNvPr>
          <p:cNvSpPr>
            <a:spLocks noGrp="1"/>
          </p:cNvSpPr>
          <p:nvPr>
            <p:ph type="sldNum" sz="quarter" idx="12"/>
          </p:nvPr>
        </p:nvSpPr>
        <p:spPr/>
        <p:txBody>
          <a:bodyPr/>
          <a:lstStyle/>
          <a:p>
            <a:fld id="{A9D9A958-9B9B-40FD-82B8-327F9B468831}" type="slidenum">
              <a:rPr lang="en-US" smtClean="0"/>
              <a:t>‹#›</a:t>
            </a:fld>
            <a:endParaRPr lang="en-US"/>
          </a:p>
        </p:txBody>
      </p:sp>
    </p:spTree>
    <p:extLst>
      <p:ext uri="{BB962C8B-B14F-4D97-AF65-F5344CB8AC3E}">
        <p14:creationId xmlns:p14="http://schemas.microsoft.com/office/powerpoint/2010/main" val="262046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ED32178-25BA-2069-E9BD-6EDE0453D486}"/>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53D1EC90-F225-5A57-5AAC-0436123F4DDC}"/>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AB0EA58B-029C-F81C-7771-6131F31A3F33}"/>
              </a:ext>
            </a:extLst>
          </p:cNvPr>
          <p:cNvSpPr>
            <a:spLocks noGrp="1"/>
          </p:cNvSpPr>
          <p:nvPr>
            <p:ph type="dt" sz="half" idx="10"/>
          </p:nvPr>
        </p:nvSpPr>
        <p:spPr/>
        <p:txBody>
          <a:bodyPr/>
          <a:lstStyle/>
          <a:p>
            <a:fld id="{FBFCBD50-BA3A-4F00-8C93-5273BC06DCF9}" type="datetimeFigureOut">
              <a:rPr lang="en-US" smtClean="0"/>
              <a:t>1/9/2026</a:t>
            </a:fld>
            <a:endParaRPr lang="en-US"/>
          </a:p>
        </p:txBody>
      </p:sp>
      <p:sp>
        <p:nvSpPr>
          <p:cNvPr id="5" name="Chỗ dành sẵn cho Chân trang 4">
            <a:extLst>
              <a:ext uri="{FF2B5EF4-FFF2-40B4-BE49-F238E27FC236}">
                <a16:creationId xmlns:a16="http://schemas.microsoft.com/office/drawing/2014/main" id="{8B18AC9D-166C-B8AB-00F9-19937662F220}"/>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55CDF366-F2EA-6BCA-4103-24C92DCE5040}"/>
              </a:ext>
            </a:extLst>
          </p:cNvPr>
          <p:cNvSpPr>
            <a:spLocks noGrp="1"/>
          </p:cNvSpPr>
          <p:nvPr>
            <p:ph type="sldNum" sz="quarter" idx="12"/>
          </p:nvPr>
        </p:nvSpPr>
        <p:spPr/>
        <p:txBody>
          <a:bodyPr/>
          <a:lstStyle/>
          <a:p>
            <a:fld id="{A9D9A958-9B9B-40FD-82B8-327F9B468831}" type="slidenum">
              <a:rPr lang="en-US" smtClean="0"/>
              <a:t>‹#›</a:t>
            </a:fld>
            <a:endParaRPr lang="en-US"/>
          </a:p>
        </p:txBody>
      </p:sp>
    </p:spTree>
    <p:extLst>
      <p:ext uri="{BB962C8B-B14F-4D97-AF65-F5344CB8AC3E}">
        <p14:creationId xmlns:p14="http://schemas.microsoft.com/office/powerpoint/2010/main" val="97309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79B28AD-3F71-3E50-7623-AF276D905FF4}"/>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C20F76FE-3526-DFE1-0984-A81EF3D420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BDA8550C-F21C-CF4F-6B43-75D0146893A6}"/>
              </a:ext>
            </a:extLst>
          </p:cNvPr>
          <p:cNvSpPr>
            <a:spLocks noGrp="1"/>
          </p:cNvSpPr>
          <p:nvPr>
            <p:ph type="dt" sz="half" idx="10"/>
          </p:nvPr>
        </p:nvSpPr>
        <p:spPr/>
        <p:txBody>
          <a:bodyPr/>
          <a:lstStyle/>
          <a:p>
            <a:fld id="{FBFCBD50-BA3A-4F00-8C93-5273BC06DCF9}" type="datetimeFigureOut">
              <a:rPr lang="en-US" smtClean="0"/>
              <a:t>1/9/2026</a:t>
            </a:fld>
            <a:endParaRPr lang="en-US"/>
          </a:p>
        </p:txBody>
      </p:sp>
      <p:sp>
        <p:nvSpPr>
          <p:cNvPr id="5" name="Chỗ dành sẵn cho Chân trang 4">
            <a:extLst>
              <a:ext uri="{FF2B5EF4-FFF2-40B4-BE49-F238E27FC236}">
                <a16:creationId xmlns:a16="http://schemas.microsoft.com/office/drawing/2014/main" id="{1C2BA86F-6590-0BFB-6141-BEBF2889BB3E}"/>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B10AFB11-FFBC-8CD7-B15A-589AD833CF78}"/>
              </a:ext>
            </a:extLst>
          </p:cNvPr>
          <p:cNvSpPr>
            <a:spLocks noGrp="1"/>
          </p:cNvSpPr>
          <p:nvPr>
            <p:ph type="sldNum" sz="quarter" idx="12"/>
          </p:nvPr>
        </p:nvSpPr>
        <p:spPr/>
        <p:txBody>
          <a:bodyPr/>
          <a:lstStyle/>
          <a:p>
            <a:fld id="{A9D9A958-9B9B-40FD-82B8-327F9B468831}" type="slidenum">
              <a:rPr lang="en-US" smtClean="0"/>
              <a:t>‹#›</a:t>
            </a:fld>
            <a:endParaRPr lang="en-US"/>
          </a:p>
        </p:txBody>
      </p:sp>
    </p:spTree>
    <p:extLst>
      <p:ext uri="{BB962C8B-B14F-4D97-AF65-F5344CB8AC3E}">
        <p14:creationId xmlns:p14="http://schemas.microsoft.com/office/powerpoint/2010/main" val="146540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81A5607-58E8-5083-3235-3F2006A06544}"/>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10F15575-07EF-5407-82E5-53E63529DB9E}"/>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ội dung 3">
            <a:extLst>
              <a:ext uri="{FF2B5EF4-FFF2-40B4-BE49-F238E27FC236}">
                <a16:creationId xmlns:a16="http://schemas.microsoft.com/office/drawing/2014/main" id="{B53869B8-DEFE-D9F9-692E-CE70B80C96AF}"/>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Ngày tháng 4">
            <a:extLst>
              <a:ext uri="{FF2B5EF4-FFF2-40B4-BE49-F238E27FC236}">
                <a16:creationId xmlns:a16="http://schemas.microsoft.com/office/drawing/2014/main" id="{9DA73DDE-648D-73BA-713F-4036BCE5EB87}"/>
              </a:ext>
            </a:extLst>
          </p:cNvPr>
          <p:cNvSpPr>
            <a:spLocks noGrp="1"/>
          </p:cNvSpPr>
          <p:nvPr>
            <p:ph type="dt" sz="half" idx="10"/>
          </p:nvPr>
        </p:nvSpPr>
        <p:spPr/>
        <p:txBody>
          <a:bodyPr/>
          <a:lstStyle/>
          <a:p>
            <a:fld id="{FBFCBD50-BA3A-4F00-8C93-5273BC06DCF9}" type="datetimeFigureOut">
              <a:rPr lang="en-US" smtClean="0"/>
              <a:t>1/9/2026</a:t>
            </a:fld>
            <a:endParaRPr lang="en-US"/>
          </a:p>
        </p:txBody>
      </p:sp>
      <p:sp>
        <p:nvSpPr>
          <p:cNvPr id="6" name="Chỗ dành sẵn cho Chân trang 5">
            <a:extLst>
              <a:ext uri="{FF2B5EF4-FFF2-40B4-BE49-F238E27FC236}">
                <a16:creationId xmlns:a16="http://schemas.microsoft.com/office/drawing/2014/main" id="{B1DF21E7-292E-0CE4-997A-30C0DFC0F61C}"/>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C053B892-FE1F-85F7-9DAB-2947334D704A}"/>
              </a:ext>
            </a:extLst>
          </p:cNvPr>
          <p:cNvSpPr>
            <a:spLocks noGrp="1"/>
          </p:cNvSpPr>
          <p:nvPr>
            <p:ph type="sldNum" sz="quarter" idx="12"/>
          </p:nvPr>
        </p:nvSpPr>
        <p:spPr/>
        <p:txBody>
          <a:bodyPr/>
          <a:lstStyle/>
          <a:p>
            <a:fld id="{A9D9A958-9B9B-40FD-82B8-327F9B468831}" type="slidenum">
              <a:rPr lang="en-US" smtClean="0"/>
              <a:t>‹#›</a:t>
            </a:fld>
            <a:endParaRPr lang="en-US"/>
          </a:p>
        </p:txBody>
      </p:sp>
    </p:spTree>
    <p:extLst>
      <p:ext uri="{BB962C8B-B14F-4D97-AF65-F5344CB8AC3E}">
        <p14:creationId xmlns:p14="http://schemas.microsoft.com/office/powerpoint/2010/main" val="1889063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D420508D-2643-34AE-78E8-CD0484BB2416}"/>
              </a:ext>
            </a:extLst>
          </p:cNvPr>
          <p:cNvSpPr>
            <a:spLocks noGrp="1"/>
          </p:cNvSpPr>
          <p:nvPr>
            <p:ph type="title"/>
          </p:nvPr>
        </p:nvSpPr>
        <p:spPr>
          <a:xfrm>
            <a:off x="839788" y="365125"/>
            <a:ext cx="10515600" cy="1325563"/>
          </a:xfrm>
        </p:spPr>
        <p:txBody>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090762DF-3286-CE98-ECD1-E22E1EB3AA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4F6C0F7A-752B-F243-0EA4-A34E1E031C43}"/>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id="{E6F60B2C-C916-DA51-EA31-0EF0218000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861AB4E1-48A1-4CD6-F77E-73D37C25CC54}"/>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7" name="Chỗ dành sẵn cho Ngày tháng 6">
            <a:extLst>
              <a:ext uri="{FF2B5EF4-FFF2-40B4-BE49-F238E27FC236}">
                <a16:creationId xmlns:a16="http://schemas.microsoft.com/office/drawing/2014/main" id="{FAB86B57-83A7-D5AF-2BC8-3AFB33A40668}"/>
              </a:ext>
            </a:extLst>
          </p:cNvPr>
          <p:cNvSpPr>
            <a:spLocks noGrp="1"/>
          </p:cNvSpPr>
          <p:nvPr>
            <p:ph type="dt" sz="half" idx="10"/>
          </p:nvPr>
        </p:nvSpPr>
        <p:spPr/>
        <p:txBody>
          <a:bodyPr/>
          <a:lstStyle/>
          <a:p>
            <a:fld id="{FBFCBD50-BA3A-4F00-8C93-5273BC06DCF9}" type="datetimeFigureOut">
              <a:rPr lang="en-US" smtClean="0"/>
              <a:t>1/9/2026</a:t>
            </a:fld>
            <a:endParaRPr lang="en-US"/>
          </a:p>
        </p:txBody>
      </p:sp>
      <p:sp>
        <p:nvSpPr>
          <p:cNvPr id="8" name="Chỗ dành sẵn cho Chân trang 7">
            <a:extLst>
              <a:ext uri="{FF2B5EF4-FFF2-40B4-BE49-F238E27FC236}">
                <a16:creationId xmlns:a16="http://schemas.microsoft.com/office/drawing/2014/main" id="{055B70D7-B700-AF1A-E2E7-496719E0E82D}"/>
              </a:ext>
            </a:extLst>
          </p:cNvPr>
          <p:cNvSpPr>
            <a:spLocks noGrp="1"/>
          </p:cNvSpPr>
          <p:nvPr>
            <p:ph type="ftr" sz="quarter" idx="11"/>
          </p:nvPr>
        </p:nvSpPr>
        <p:spPr/>
        <p:txBody>
          <a:bodyPr/>
          <a:lstStyle/>
          <a:p>
            <a:endParaRPr lang="en-US"/>
          </a:p>
        </p:txBody>
      </p:sp>
      <p:sp>
        <p:nvSpPr>
          <p:cNvPr id="9" name="Chỗ dành sẵn cho Số hiệu Bản chiếu 8">
            <a:extLst>
              <a:ext uri="{FF2B5EF4-FFF2-40B4-BE49-F238E27FC236}">
                <a16:creationId xmlns:a16="http://schemas.microsoft.com/office/drawing/2014/main" id="{FC8209E3-D546-307E-331A-BDF85D35C25A}"/>
              </a:ext>
            </a:extLst>
          </p:cNvPr>
          <p:cNvSpPr>
            <a:spLocks noGrp="1"/>
          </p:cNvSpPr>
          <p:nvPr>
            <p:ph type="sldNum" sz="quarter" idx="12"/>
          </p:nvPr>
        </p:nvSpPr>
        <p:spPr/>
        <p:txBody>
          <a:bodyPr/>
          <a:lstStyle/>
          <a:p>
            <a:fld id="{A9D9A958-9B9B-40FD-82B8-327F9B468831}" type="slidenum">
              <a:rPr lang="en-US" smtClean="0"/>
              <a:t>‹#›</a:t>
            </a:fld>
            <a:endParaRPr lang="en-US"/>
          </a:p>
        </p:txBody>
      </p:sp>
    </p:spTree>
    <p:extLst>
      <p:ext uri="{BB962C8B-B14F-4D97-AF65-F5344CB8AC3E}">
        <p14:creationId xmlns:p14="http://schemas.microsoft.com/office/powerpoint/2010/main" val="1885634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15EE15B-B721-BC8B-ED25-E114DB3AE6B3}"/>
              </a:ext>
            </a:extLst>
          </p:cNvPr>
          <p:cNvSpPr>
            <a:spLocks noGrp="1"/>
          </p:cNvSpPr>
          <p:nvPr>
            <p:ph type="title"/>
          </p:nvPr>
        </p:nvSpPr>
        <p:spPr/>
        <p:txBody>
          <a:bodyPr/>
          <a:lstStyle/>
          <a:p>
            <a:r>
              <a:rPr lang="vi-VN"/>
              <a:t>Bấm để sửa kiểu tiêu đề Bản cái</a:t>
            </a:r>
            <a:endParaRPr lang="en-US"/>
          </a:p>
        </p:txBody>
      </p:sp>
      <p:sp>
        <p:nvSpPr>
          <p:cNvPr id="3" name="Chỗ dành sẵn cho Ngày tháng 2">
            <a:extLst>
              <a:ext uri="{FF2B5EF4-FFF2-40B4-BE49-F238E27FC236}">
                <a16:creationId xmlns:a16="http://schemas.microsoft.com/office/drawing/2014/main" id="{D5AB5202-E261-CAB4-AC84-1F1FAB5D6859}"/>
              </a:ext>
            </a:extLst>
          </p:cNvPr>
          <p:cNvSpPr>
            <a:spLocks noGrp="1"/>
          </p:cNvSpPr>
          <p:nvPr>
            <p:ph type="dt" sz="half" idx="10"/>
          </p:nvPr>
        </p:nvSpPr>
        <p:spPr/>
        <p:txBody>
          <a:bodyPr/>
          <a:lstStyle/>
          <a:p>
            <a:fld id="{FBFCBD50-BA3A-4F00-8C93-5273BC06DCF9}" type="datetimeFigureOut">
              <a:rPr lang="en-US" smtClean="0"/>
              <a:t>1/9/2026</a:t>
            </a:fld>
            <a:endParaRPr lang="en-US"/>
          </a:p>
        </p:txBody>
      </p:sp>
      <p:sp>
        <p:nvSpPr>
          <p:cNvPr id="4" name="Chỗ dành sẵn cho Chân trang 3">
            <a:extLst>
              <a:ext uri="{FF2B5EF4-FFF2-40B4-BE49-F238E27FC236}">
                <a16:creationId xmlns:a16="http://schemas.microsoft.com/office/drawing/2014/main" id="{6272608F-3F75-F4EC-F8DA-FBF56EBDA3A9}"/>
              </a:ext>
            </a:extLst>
          </p:cNvPr>
          <p:cNvSpPr>
            <a:spLocks noGrp="1"/>
          </p:cNvSpPr>
          <p:nvPr>
            <p:ph type="ftr" sz="quarter" idx="11"/>
          </p:nvPr>
        </p:nvSpPr>
        <p:spPr/>
        <p:txBody>
          <a:bodyPr/>
          <a:lstStyle/>
          <a:p>
            <a:endParaRPr lang="en-US"/>
          </a:p>
        </p:txBody>
      </p:sp>
      <p:sp>
        <p:nvSpPr>
          <p:cNvPr id="5" name="Chỗ dành sẵn cho Số hiệu Bản chiếu 4">
            <a:extLst>
              <a:ext uri="{FF2B5EF4-FFF2-40B4-BE49-F238E27FC236}">
                <a16:creationId xmlns:a16="http://schemas.microsoft.com/office/drawing/2014/main" id="{D260F8F7-07DA-D158-1A1B-E13910085D21}"/>
              </a:ext>
            </a:extLst>
          </p:cNvPr>
          <p:cNvSpPr>
            <a:spLocks noGrp="1"/>
          </p:cNvSpPr>
          <p:nvPr>
            <p:ph type="sldNum" sz="quarter" idx="12"/>
          </p:nvPr>
        </p:nvSpPr>
        <p:spPr/>
        <p:txBody>
          <a:bodyPr/>
          <a:lstStyle/>
          <a:p>
            <a:fld id="{A9D9A958-9B9B-40FD-82B8-327F9B468831}" type="slidenum">
              <a:rPr lang="en-US" smtClean="0"/>
              <a:t>‹#›</a:t>
            </a:fld>
            <a:endParaRPr lang="en-US"/>
          </a:p>
        </p:txBody>
      </p:sp>
    </p:spTree>
    <p:extLst>
      <p:ext uri="{BB962C8B-B14F-4D97-AF65-F5344CB8AC3E}">
        <p14:creationId xmlns:p14="http://schemas.microsoft.com/office/powerpoint/2010/main" val="364007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B524653D-50B0-D0B7-146B-B555A3585BBA}"/>
              </a:ext>
            </a:extLst>
          </p:cNvPr>
          <p:cNvSpPr>
            <a:spLocks noGrp="1"/>
          </p:cNvSpPr>
          <p:nvPr>
            <p:ph type="dt" sz="half" idx="10"/>
          </p:nvPr>
        </p:nvSpPr>
        <p:spPr/>
        <p:txBody>
          <a:bodyPr/>
          <a:lstStyle/>
          <a:p>
            <a:fld id="{FBFCBD50-BA3A-4F00-8C93-5273BC06DCF9}" type="datetimeFigureOut">
              <a:rPr lang="en-US" smtClean="0"/>
              <a:t>1/9/2026</a:t>
            </a:fld>
            <a:endParaRPr lang="en-US"/>
          </a:p>
        </p:txBody>
      </p:sp>
      <p:sp>
        <p:nvSpPr>
          <p:cNvPr id="3" name="Chỗ dành sẵn cho Chân trang 2">
            <a:extLst>
              <a:ext uri="{FF2B5EF4-FFF2-40B4-BE49-F238E27FC236}">
                <a16:creationId xmlns:a16="http://schemas.microsoft.com/office/drawing/2014/main" id="{65BFB568-28E3-EC8D-F1B2-1721468998D1}"/>
              </a:ext>
            </a:extLst>
          </p:cNvPr>
          <p:cNvSpPr>
            <a:spLocks noGrp="1"/>
          </p:cNvSpPr>
          <p:nvPr>
            <p:ph type="ftr" sz="quarter" idx="11"/>
          </p:nvPr>
        </p:nvSpPr>
        <p:spPr/>
        <p:txBody>
          <a:bodyPr/>
          <a:lstStyle/>
          <a:p>
            <a:endParaRPr lang="en-US"/>
          </a:p>
        </p:txBody>
      </p:sp>
      <p:sp>
        <p:nvSpPr>
          <p:cNvPr id="4" name="Chỗ dành sẵn cho Số hiệu Bản chiếu 3">
            <a:extLst>
              <a:ext uri="{FF2B5EF4-FFF2-40B4-BE49-F238E27FC236}">
                <a16:creationId xmlns:a16="http://schemas.microsoft.com/office/drawing/2014/main" id="{493D8E7E-9683-357A-680C-02D5FF1FE697}"/>
              </a:ext>
            </a:extLst>
          </p:cNvPr>
          <p:cNvSpPr>
            <a:spLocks noGrp="1"/>
          </p:cNvSpPr>
          <p:nvPr>
            <p:ph type="sldNum" sz="quarter" idx="12"/>
          </p:nvPr>
        </p:nvSpPr>
        <p:spPr/>
        <p:txBody>
          <a:bodyPr/>
          <a:lstStyle/>
          <a:p>
            <a:fld id="{A9D9A958-9B9B-40FD-82B8-327F9B468831}" type="slidenum">
              <a:rPr lang="en-US" smtClean="0"/>
              <a:t>‹#›</a:t>
            </a:fld>
            <a:endParaRPr lang="en-US"/>
          </a:p>
        </p:txBody>
      </p:sp>
    </p:spTree>
    <p:extLst>
      <p:ext uri="{BB962C8B-B14F-4D97-AF65-F5344CB8AC3E}">
        <p14:creationId xmlns:p14="http://schemas.microsoft.com/office/powerpoint/2010/main" val="3456758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855A82C-1CAD-35AE-DBA2-C5B9227AF626}"/>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E6820B69-E2F6-882E-4776-ED1FCCA80C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id="{611F0C99-3D50-B4CA-7544-73E9250AB8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33004BEF-0F7B-68B8-6742-9C2E7B7C89F9}"/>
              </a:ext>
            </a:extLst>
          </p:cNvPr>
          <p:cNvSpPr>
            <a:spLocks noGrp="1"/>
          </p:cNvSpPr>
          <p:nvPr>
            <p:ph type="dt" sz="half" idx="10"/>
          </p:nvPr>
        </p:nvSpPr>
        <p:spPr/>
        <p:txBody>
          <a:bodyPr/>
          <a:lstStyle/>
          <a:p>
            <a:fld id="{FBFCBD50-BA3A-4F00-8C93-5273BC06DCF9}" type="datetimeFigureOut">
              <a:rPr lang="en-US" smtClean="0"/>
              <a:t>1/9/2026</a:t>
            </a:fld>
            <a:endParaRPr lang="en-US"/>
          </a:p>
        </p:txBody>
      </p:sp>
      <p:sp>
        <p:nvSpPr>
          <p:cNvPr id="6" name="Chỗ dành sẵn cho Chân trang 5">
            <a:extLst>
              <a:ext uri="{FF2B5EF4-FFF2-40B4-BE49-F238E27FC236}">
                <a16:creationId xmlns:a16="http://schemas.microsoft.com/office/drawing/2014/main" id="{24B4D6AA-6915-0AA4-C1CD-E2AEF9425636}"/>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3A68CBEB-11C7-2968-6CD0-89020FD7FC29}"/>
              </a:ext>
            </a:extLst>
          </p:cNvPr>
          <p:cNvSpPr>
            <a:spLocks noGrp="1"/>
          </p:cNvSpPr>
          <p:nvPr>
            <p:ph type="sldNum" sz="quarter" idx="12"/>
          </p:nvPr>
        </p:nvSpPr>
        <p:spPr/>
        <p:txBody>
          <a:bodyPr/>
          <a:lstStyle/>
          <a:p>
            <a:fld id="{A9D9A958-9B9B-40FD-82B8-327F9B468831}" type="slidenum">
              <a:rPr lang="en-US" smtClean="0"/>
              <a:t>‹#›</a:t>
            </a:fld>
            <a:endParaRPr lang="en-US"/>
          </a:p>
        </p:txBody>
      </p:sp>
    </p:spTree>
    <p:extLst>
      <p:ext uri="{BB962C8B-B14F-4D97-AF65-F5344CB8AC3E}">
        <p14:creationId xmlns:p14="http://schemas.microsoft.com/office/powerpoint/2010/main" val="3457208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BA70BC83-A519-6B0B-018D-4F63BBE34AD8}"/>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id="{5270AB3D-9D44-D2FE-18A1-D7694FD841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Chỗ dành sẵn cho Văn bản 3">
            <a:extLst>
              <a:ext uri="{FF2B5EF4-FFF2-40B4-BE49-F238E27FC236}">
                <a16:creationId xmlns:a16="http://schemas.microsoft.com/office/drawing/2014/main" id="{7C163659-0B6C-35DB-09A7-DB47768890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79E21F8F-3CA8-36FB-C9DA-8EA64F93EEE9}"/>
              </a:ext>
            </a:extLst>
          </p:cNvPr>
          <p:cNvSpPr>
            <a:spLocks noGrp="1"/>
          </p:cNvSpPr>
          <p:nvPr>
            <p:ph type="dt" sz="half" idx="10"/>
          </p:nvPr>
        </p:nvSpPr>
        <p:spPr/>
        <p:txBody>
          <a:bodyPr/>
          <a:lstStyle/>
          <a:p>
            <a:fld id="{FBFCBD50-BA3A-4F00-8C93-5273BC06DCF9}" type="datetimeFigureOut">
              <a:rPr lang="en-US" smtClean="0"/>
              <a:t>1/9/2026</a:t>
            </a:fld>
            <a:endParaRPr lang="en-US"/>
          </a:p>
        </p:txBody>
      </p:sp>
      <p:sp>
        <p:nvSpPr>
          <p:cNvPr id="6" name="Chỗ dành sẵn cho Chân trang 5">
            <a:extLst>
              <a:ext uri="{FF2B5EF4-FFF2-40B4-BE49-F238E27FC236}">
                <a16:creationId xmlns:a16="http://schemas.microsoft.com/office/drawing/2014/main" id="{7A939674-AF9D-056D-8AEC-04A1E9A7586A}"/>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D7380A9B-395F-DFDC-3CCD-C5441AFA8F3F}"/>
              </a:ext>
            </a:extLst>
          </p:cNvPr>
          <p:cNvSpPr>
            <a:spLocks noGrp="1"/>
          </p:cNvSpPr>
          <p:nvPr>
            <p:ph type="sldNum" sz="quarter" idx="12"/>
          </p:nvPr>
        </p:nvSpPr>
        <p:spPr/>
        <p:txBody>
          <a:bodyPr/>
          <a:lstStyle/>
          <a:p>
            <a:fld id="{A9D9A958-9B9B-40FD-82B8-327F9B468831}" type="slidenum">
              <a:rPr lang="en-US" smtClean="0"/>
              <a:t>‹#›</a:t>
            </a:fld>
            <a:endParaRPr lang="en-US"/>
          </a:p>
        </p:txBody>
      </p:sp>
    </p:spTree>
    <p:extLst>
      <p:ext uri="{BB962C8B-B14F-4D97-AF65-F5344CB8AC3E}">
        <p14:creationId xmlns:p14="http://schemas.microsoft.com/office/powerpoint/2010/main" val="185349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132CA7F-D42F-0CFE-505C-1A81CA1B6CB5}"/>
              </a:ext>
            </a:extLst>
          </p:cNvPr>
          <p:cNvSpPr>
            <a:spLocks noGrp="1"/>
          </p:cNvSpPr>
          <p:nvPr>
            <p:ph type="title"/>
          </p:nvPr>
        </p:nvSpPr>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2E070AE6-48BC-D197-FD0B-0385792F7397}"/>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811A7988-CBB5-601C-CBCE-C90F8006458D}"/>
              </a:ext>
            </a:extLst>
          </p:cNvPr>
          <p:cNvSpPr>
            <a:spLocks noGrp="1"/>
          </p:cNvSpPr>
          <p:nvPr>
            <p:ph type="dt" sz="half" idx="10"/>
          </p:nvPr>
        </p:nvSpPr>
        <p:spPr/>
        <p:txBody>
          <a:bodyPr/>
          <a:lstStyle/>
          <a:p>
            <a:fld id="{FBFCBD50-BA3A-4F00-8C93-5273BC06DCF9}" type="datetimeFigureOut">
              <a:rPr lang="en-US" smtClean="0"/>
              <a:t>1/9/2026</a:t>
            </a:fld>
            <a:endParaRPr lang="en-US"/>
          </a:p>
        </p:txBody>
      </p:sp>
      <p:sp>
        <p:nvSpPr>
          <p:cNvPr id="5" name="Chỗ dành sẵn cho Chân trang 4">
            <a:extLst>
              <a:ext uri="{FF2B5EF4-FFF2-40B4-BE49-F238E27FC236}">
                <a16:creationId xmlns:a16="http://schemas.microsoft.com/office/drawing/2014/main" id="{B33D37B6-71D9-A398-80C0-94F15ADD54AA}"/>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5EAF0D46-D728-3CE9-2259-7334DF048C3F}"/>
              </a:ext>
            </a:extLst>
          </p:cNvPr>
          <p:cNvSpPr>
            <a:spLocks noGrp="1"/>
          </p:cNvSpPr>
          <p:nvPr>
            <p:ph type="sldNum" sz="quarter" idx="12"/>
          </p:nvPr>
        </p:nvSpPr>
        <p:spPr/>
        <p:txBody>
          <a:bodyPr/>
          <a:lstStyle/>
          <a:p>
            <a:fld id="{A9D9A958-9B9B-40FD-82B8-327F9B468831}" type="slidenum">
              <a:rPr lang="en-US" smtClean="0"/>
              <a:t>‹#›</a:t>
            </a:fld>
            <a:endParaRPr lang="en-US"/>
          </a:p>
        </p:txBody>
      </p:sp>
    </p:spTree>
    <p:extLst>
      <p:ext uri="{BB962C8B-B14F-4D97-AF65-F5344CB8AC3E}">
        <p14:creationId xmlns:p14="http://schemas.microsoft.com/office/powerpoint/2010/main" val="830315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D3F83417-666F-DC63-0236-2185532DD4E3}"/>
              </a:ext>
            </a:extLst>
          </p:cNvPr>
          <p:cNvSpPr>
            <a:spLocks noGrp="1"/>
          </p:cNvSpPr>
          <p:nvPr>
            <p:ph type="title" orient="vert"/>
          </p:nvPr>
        </p:nvSpPr>
        <p:spPr>
          <a:xfrm>
            <a:off x="8724900" y="365125"/>
            <a:ext cx="2628900" cy="5811838"/>
          </a:xfr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21870372-205E-94AF-2037-0C89E87C4918}"/>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00BBDFED-D5D9-9C78-F1BA-61A1FAD4AB9E}"/>
              </a:ext>
            </a:extLst>
          </p:cNvPr>
          <p:cNvSpPr>
            <a:spLocks noGrp="1"/>
          </p:cNvSpPr>
          <p:nvPr>
            <p:ph type="dt" sz="half" idx="10"/>
          </p:nvPr>
        </p:nvSpPr>
        <p:spPr/>
        <p:txBody>
          <a:bodyPr/>
          <a:lstStyle/>
          <a:p>
            <a:fld id="{FBFCBD50-BA3A-4F00-8C93-5273BC06DCF9}" type="datetimeFigureOut">
              <a:rPr lang="en-US" smtClean="0"/>
              <a:t>1/9/2026</a:t>
            </a:fld>
            <a:endParaRPr lang="en-US"/>
          </a:p>
        </p:txBody>
      </p:sp>
      <p:sp>
        <p:nvSpPr>
          <p:cNvPr id="5" name="Chỗ dành sẵn cho Chân trang 4">
            <a:extLst>
              <a:ext uri="{FF2B5EF4-FFF2-40B4-BE49-F238E27FC236}">
                <a16:creationId xmlns:a16="http://schemas.microsoft.com/office/drawing/2014/main" id="{AB67CB11-8C1A-F0FE-FAE5-2EDA414AC2D3}"/>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46C3469D-5B47-C46F-8B9C-ED18C80F3DD9}"/>
              </a:ext>
            </a:extLst>
          </p:cNvPr>
          <p:cNvSpPr>
            <a:spLocks noGrp="1"/>
          </p:cNvSpPr>
          <p:nvPr>
            <p:ph type="sldNum" sz="quarter" idx="12"/>
          </p:nvPr>
        </p:nvSpPr>
        <p:spPr/>
        <p:txBody>
          <a:bodyPr/>
          <a:lstStyle/>
          <a:p>
            <a:fld id="{A9D9A958-9B9B-40FD-82B8-327F9B468831}" type="slidenum">
              <a:rPr lang="en-US" smtClean="0"/>
              <a:t>‹#›</a:t>
            </a:fld>
            <a:endParaRPr lang="en-US"/>
          </a:p>
        </p:txBody>
      </p:sp>
    </p:spTree>
    <p:extLst>
      <p:ext uri="{BB962C8B-B14F-4D97-AF65-F5344CB8AC3E}">
        <p14:creationId xmlns:p14="http://schemas.microsoft.com/office/powerpoint/2010/main" val="1025951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B28DAE9B-EE96-CCDB-A484-E6E6291F25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1C88575E-3AB9-F509-4DFC-0DFE4BA931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E72DFDB6-F607-7606-9F56-031AEBEA7C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FCBD50-BA3A-4F00-8C93-5273BC06DCF9}" type="datetimeFigureOut">
              <a:rPr lang="en-US" smtClean="0"/>
              <a:t>1/9/2026</a:t>
            </a:fld>
            <a:endParaRPr lang="en-US"/>
          </a:p>
        </p:txBody>
      </p:sp>
      <p:sp>
        <p:nvSpPr>
          <p:cNvPr id="5" name="Chỗ dành sẵn cho Chân trang 4">
            <a:extLst>
              <a:ext uri="{FF2B5EF4-FFF2-40B4-BE49-F238E27FC236}">
                <a16:creationId xmlns:a16="http://schemas.microsoft.com/office/drawing/2014/main" id="{C0E40D22-5219-1703-5A00-715419AC62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Chỗ dành sẵn cho Số hiệu Bản chiếu 5">
            <a:extLst>
              <a:ext uri="{FF2B5EF4-FFF2-40B4-BE49-F238E27FC236}">
                <a16:creationId xmlns:a16="http://schemas.microsoft.com/office/drawing/2014/main" id="{F3FF05AB-7D31-6B73-EC15-B31F3419D3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D9A958-9B9B-40FD-82B8-327F9B468831}" type="slidenum">
              <a:rPr lang="en-US" smtClean="0"/>
              <a:t>‹#›</a:t>
            </a:fld>
            <a:endParaRPr lang="en-US"/>
          </a:p>
        </p:txBody>
      </p:sp>
    </p:spTree>
    <p:extLst>
      <p:ext uri="{BB962C8B-B14F-4D97-AF65-F5344CB8AC3E}">
        <p14:creationId xmlns:p14="http://schemas.microsoft.com/office/powerpoint/2010/main" val="1546099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2CA43A6-24D1-B50C-7612-5C568D3E1DEE}"/>
              </a:ext>
            </a:extLst>
          </p:cNvPr>
          <p:cNvSpPr>
            <a:spLocks noGrp="1"/>
          </p:cNvSpPr>
          <p:nvPr>
            <p:ph type="ctrTitle"/>
          </p:nvPr>
        </p:nvSpPr>
        <p:spPr>
          <a:xfrm>
            <a:off x="711568" y="1475203"/>
            <a:ext cx="10768864" cy="2850540"/>
          </a:xfrm>
        </p:spPr>
        <p:txBody>
          <a:bodyPr anchor="ctr">
            <a:noAutofit/>
          </a:bodyPr>
          <a:lstStyle/>
          <a:p>
            <a:pPr>
              <a:lnSpc>
                <a:spcPct val="100000"/>
              </a:lnSpc>
            </a:pPr>
            <a:r>
              <a:rPr lang="vi-VN" sz="4000" b="1" dirty="0">
                <a:solidFill>
                  <a:srgbClr val="002060"/>
                </a:solidFill>
                <a:latin typeface="+mn-lt"/>
              </a:rPr>
              <a:t>XÂY DỰNG HỆ THỐNG QUẢN LÝ</a:t>
            </a:r>
            <a:br>
              <a:rPr lang="en-US" sz="4000" dirty="0">
                <a:solidFill>
                  <a:srgbClr val="002060"/>
                </a:solidFill>
                <a:latin typeface="+mn-lt"/>
              </a:rPr>
            </a:br>
            <a:r>
              <a:rPr lang="vi-VN" sz="4000" b="1" dirty="0">
                <a:solidFill>
                  <a:srgbClr val="002060"/>
                </a:solidFill>
                <a:latin typeface="+mn-lt"/>
              </a:rPr>
              <a:t>VÀ HỖ TRỢ TÌNH NGUYỆN VIÊN</a:t>
            </a:r>
            <a:br>
              <a:rPr lang="en-US" sz="4000" dirty="0">
                <a:solidFill>
                  <a:srgbClr val="002060"/>
                </a:solidFill>
                <a:latin typeface="+mn-lt"/>
              </a:rPr>
            </a:br>
            <a:r>
              <a:rPr lang="vi-VN" sz="4000" b="1" dirty="0">
                <a:solidFill>
                  <a:srgbClr val="002060"/>
                </a:solidFill>
                <a:latin typeface="+mn-lt"/>
              </a:rPr>
              <a:t>CHO TỔ CHỨC PHI LỢI NHUẬN</a:t>
            </a:r>
            <a:endParaRPr lang="en-US" sz="4000" b="1" dirty="0">
              <a:solidFill>
                <a:srgbClr val="002060"/>
              </a:solidFill>
              <a:latin typeface="+mn-lt"/>
              <a:cs typeface="Arial" panose="020B0604020202020204" pitchFamily="34" charset="0"/>
            </a:endParaRPr>
          </a:p>
        </p:txBody>
      </p:sp>
      <p:sp>
        <p:nvSpPr>
          <p:cNvPr id="5" name="Hộp Văn bản 4">
            <a:extLst>
              <a:ext uri="{FF2B5EF4-FFF2-40B4-BE49-F238E27FC236}">
                <a16:creationId xmlns:a16="http://schemas.microsoft.com/office/drawing/2014/main" id="{E65D51B9-23F3-EEFD-6175-9C8BF5FBD845}"/>
              </a:ext>
            </a:extLst>
          </p:cNvPr>
          <p:cNvSpPr txBox="1"/>
          <p:nvPr/>
        </p:nvSpPr>
        <p:spPr>
          <a:xfrm>
            <a:off x="3899647" y="129975"/>
            <a:ext cx="4392705" cy="461665"/>
          </a:xfrm>
          <a:prstGeom prst="rect">
            <a:avLst/>
          </a:prstGeom>
          <a:noFill/>
        </p:spPr>
        <p:txBody>
          <a:bodyPr wrap="square" rtlCol="0">
            <a:spAutoFit/>
          </a:bodyPr>
          <a:lstStyle/>
          <a:p>
            <a:pPr algn="ctr"/>
            <a:r>
              <a:rPr lang="vi-VN" sz="2400" b="1" dirty="0">
                <a:solidFill>
                  <a:srgbClr val="0070C0"/>
                </a:solidFill>
              </a:rPr>
              <a:t>ĐỒ ÁN CHUYÊN NGÀNH</a:t>
            </a:r>
            <a:endParaRPr lang="en-US" sz="2400" b="1" dirty="0">
              <a:solidFill>
                <a:srgbClr val="0070C0"/>
              </a:solidFill>
            </a:endParaRPr>
          </a:p>
        </p:txBody>
      </p:sp>
      <p:sp>
        <p:nvSpPr>
          <p:cNvPr id="12" name="Hộp Văn bản 11">
            <a:extLst>
              <a:ext uri="{FF2B5EF4-FFF2-40B4-BE49-F238E27FC236}">
                <a16:creationId xmlns:a16="http://schemas.microsoft.com/office/drawing/2014/main" id="{983FB95F-A238-4D65-B456-2A9EB22D8E3E}"/>
              </a:ext>
            </a:extLst>
          </p:cNvPr>
          <p:cNvSpPr txBox="1"/>
          <p:nvPr/>
        </p:nvSpPr>
        <p:spPr>
          <a:xfrm>
            <a:off x="3328218" y="6081694"/>
            <a:ext cx="5535561" cy="646331"/>
          </a:xfrm>
          <a:prstGeom prst="rect">
            <a:avLst/>
          </a:prstGeom>
          <a:noFill/>
        </p:spPr>
        <p:txBody>
          <a:bodyPr wrap="square" rtlCol="0">
            <a:spAutoFit/>
          </a:bodyPr>
          <a:lstStyle/>
          <a:p>
            <a:pPr algn="ctr"/>
            <a:r>
              <a:rPr lang="vi-VN" dirty="0">
                <a:solidFill>
                  <a:srgbClr val="FF0000"/>
                </a:solidFill>
              </a:rPr>
              <a:t>Sinh viên thực hiện</a:t>
            </a:r>
            <a:r>
              <a:rPr lang="vi-VN" dirty="0">
                <a:solidFill>
                  <a:srgbClr val="002060"/>
                </a:solidFill>
              </a:rPr>
              <a:t>: Nguyễn Phúc Vinh</a:t>
            </a:r>
          </a:p>
          <a:p>
            <a:pPr algn="ctr"/>
            <a:r>
              <a:rPr lang="vi-VN" dirty="0">
                <a:solidFill>
                  <a:srgbClr val="FF0000"/>
                </a:solidFill>
              </a:rPr>
              <a:t>Giảng viên hướng dẫn</a:t>
            </a:r>
            <a:r>
              <a:rPr lang="vi-VN" dirty="0">
                <a:solidFill>
                  <a:srgbClr val="002060"/>
                </a:solidFill>
              </a:rPr>
              <a:t>: </a:t>
            </a:r>
            <a:r>
              <a:rPr lang="vi-VN" dirty="0" err="1">
                <a:solidFill>
                  <a:srgbClr val="002060"/>
                </a:solidFill>
              </a:rPr>
              <a:t>ThS</a:t>
            </a:r>
            <a:r>
              <a:rPr lang="vi-VN" dirty="0">
                <a:solidFill>
                  <a:srgbClr val="002060"/>
                </a:solidFill>
              </a:rPr>
              <a:t>. Phan Thị Phương Nam</a:t>
            </a:r>
            <a:endParaRPr lang="en-US" dirty="0">
              <a:solidFill>
                <a:srgbClr val="002060"/>
              </a:solidFill>
            </a:endParaRPr>
          </a:p>
        </p:txBody>
      </p:sp>
    </p:spTree>
    <p:extLst>
      <p:ext uri="{BB962C8B-B14F-4D97-AF65-F5344CB8AC3E}">
        <p14:creationId xmlns:p14="http://schemas.microsoft.com/office/powerpoint/2010/main" val="23384848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ộp Văn bản 1">
            <a:extLst>
              <a:ext uri="{FF2B5EF4-FFF2-40B4-BE49-F238E27FC236}">
                <a16:creationId xmlns:a16="http://schemas.microsoft.com/office/drawing/2014/main" id="{47177F7B-D04B-C9A1-B23C-B1E7E1CC1B0B}"/>
              </a:ext>
            </a:extLst>
          </p:cNvPr>
          <p:cNvSpPr txBox="1"/>
          <p:nvPr/>
        </p:nvSpPr>
        <p:spPr>
          <a:xfrm>
            <a:off x="900000" y="252000"/>
            <a:ext cx="2300141" cy="646331"/>
          </a:xfrm>
          <a:prstGeom prst="rect">
            <a:avLst/>
          </a:prstGeom>
          <a:noFill/>
        </p:spPr>
        <p:txBody>
          <a:bodyPr wrap="square" rtlCol="0">
            <a:spAutoFit/>
          </a:bodyPr>
          <a:lstStyle/>
          <a:p>
            <a:r>
              <a:rPr lang="vi-VN" sz="3600" b="1" dirty="0">
                <a:solidFill>
                  <a:srgbClr val="002060"/>
                </a:solidFill>
                <a:latin typeface="Arial" panose="020B0604020202020204" pitchFamily="34" charset="0"/>
                <a:cs typeface="Arial" panose="020B0604020202020204" pitchFamily="34" charset="0"/>
              </a:rPr>
              <a:t>MỤC LỤC</a:t>
            </a:r>
          </a:p>
        </p:txBody>
      </p:sp>
      <p:sp>
        <p:nvSpPr>
          <p:cNvPr id="6" name="Hộp Văn bản 5">
            <a:extLst>
              <a:ext uri="{FF2B5EF4-FFF2-40B4-BE49-F238E27FC236}">
                <a16:creationId xmlns:a16="http://schemas.microsoft.com/office/drawing/2014/main" id="{CEAF7B0D-78D5-6ADF-17CD-A8C113391DCF}"/>
              </a:ext>
            </a:extLst>
          </p:cNvPr>
          <p:cNvSpPr txBox="1"/>
          <p:nvPr/>
        </p:nvSpPr>
        <p:spPr>
          <a:xfrm>
            <a:off x="720000" y="1080000"/>
            <a:ext cx="10800000" cy="4536819"/>
          </a:xfrm>
          <a:prstGeom prst="rect">
            <a:avLst/>
          </a:prstGeom>
          <a:noFill/>
        </p:spPr>
        <p:txBody>
          <a:bodyPr wrap="square" rtlCol="0">
            <a:spAutoFit/>
          </a:bodyPr>
          <a:lstStyle/>
          <a:p>
            <a:pPr marL="400050" indent="-540000">
              <a:lnSpc>
                <a:spcPct val="150000"/>
              </a:lnSpc>
              <a:buFont typeface="+mj-lt"/>
              <a:buAutoNum type="romanUcPeriod"/>
            </a:pPr>
            <a:r>
              <a:rPr lang="en-US" sz="2800" b="1" dirty="0">
                <a:solidFill>
                  <a:srgbClr val="002060"/>
                </a:solidFill>
                <a:latin typeface="Arial" panose="020B0604020202020204" pitchFamily="34" charset="0"/>
                <a:cs typeface="Arial" panose="020B0604020202020204" pitchFamily="34" charset="0"/>
              </a:rPr>
              <a:t>LÝ DO CHỌN ĐỀ TÀI</a:t>
            </a:r>
            <a:endParaRPr lang="vi-VN" sz="2800" b="1" dirty="0">
              <a:solidFill>
                <a:srgbClr val="002060"/>
              </a:solidFill>
              <a:latin typeface="Arial" panose="020B0604020202020204" pitchFamily="34" charset="0"/>
              <a:cs typeface="Arial" panose="020B0604020202020204" pitchFamily="34" charset="0"/>
            </a:endParaRPr>
          </a:p>
          <a:p>
            <a:pPr marL="400050" indent="-540000">
              <a:lnSpc>
                <a:spcPct val="150000"/>
              </a:lnSpc>
              <a:buFont typeface="+mj-lt"/>
              <a:buAutoNum type="romanUcPeriod"/>
            </a:pPr>
            <a:r>
              <a:rPr lang="en-US" sz="2800" b="1" dirty="0">
                <a:solidFill>
                  <a:srgbClr val="002060"/>
                </a:solidFill>
                <a:latin typeface="Arial" panose="020B0604020202020204" pitchFamily="34" charset="0"/>
                <a:cs typeface="Arial" panose="020B0604020202020204" pitchFamily="34" charset="0"/>
              </a:rPr>
              <a:t>MỤC TIÊU </a:t>
            </a:r>
            <a:r>
              <a:rPr lang="vi-VN" sz="2800" b="1" dirty="0">
                <a:solidFill>
                  <a:srgbClr val="002060"/>
                </a:solidFill>
                <a:latin typeface="Arial" panose="020B0604020202020204" pitchFamily="34" charset="0"/>
                <a:cs typeface="Arial" panose="020B0604020202020204" pitchFamily="34" charset="0"/>
              </a:rPr>
              <a:t>VÀ</a:t>
            </a:r>
            <a:r>
              <a:rPr lang="en-US" sz="2800" b="1" dirty="0">
                <a:solidFill>
                  <a:srgbClr val="002060"/>
                </a:solidFill>
                <a:latin typeface="Arial" panose="020B0604020202020204" pitchFamily="34" charset="0"/>
                <a:cs typeface="Arial" panose="020B0604020202020204" pitchFamily="34" charset="0"/>
              </a:rPr>
              <a:t> PHẠM VI</a:t>
            </a:r>
            <a:endParaRPr lang="vi-VN" sz="2800" b="1" dirty="0">
              <a:solidFill>
                <a:srgbClr val="002060"/>
              </a:solidFill>
              <a:latin typeface="Arial" panose="020B0604020202020204" pitchFamily="34" charset="0"/>
              <a:cs typeface="Arial" panose="020B0604020202020204" pitchFamily="34" charset="0"/>
            </a:endParaRPr>
          </a:p>
          <a:p>
            <a:pPr marL="400050" indent="-540000">
              <a:lnSpc>
                <a:spcPct val="150000"/>
              </a:lnSpc>
              <a:buFont typeface="+mj-lt"/>
              <a:buAutoNum type="romanUcPeriod"/>
            </a:pPr>
            <a:r>
              <a:rPr lang="vi-VN" sz="2800" b="1" dirty="0">
                <a:solidFill>
                  <a:srgbClr val="002060"/>
                </a:solidFill>
                <a:latin typeface="Arial" panose="020B0604020202020204" pitchFamily="34" charset="0"/>
                <a:cs typeface="Arial" panose="020B0604020202020204" pitchFamily="34" charset="0"/>
              </a:rPr>
              <a:t>ĐỐI TƯỢNG VÀ NGHIỆP VỤ</a:t>
            </a:r>
          </a:p>
          <a:p>
            <a:pPr marL="400050" indent="-540000">
              <a:lnSpc>
                <a:spcPct val="150000"/>
              </a:lnSpc>
              <a:buFont typeface="+mj-lt"/>
              <a:buAutoNum type="romanUcPeriod"/>
            </a:pPr>
            <a:r>
              <a:rPr lang="en-US" sz="2800" b="1" dirty="0">
                <a:solidFill>
                  <a:srgbClr val="002060"/>
                </a:solidFill>
                <a:latin typeface="Arial" panose="020B0604020202020204" pitchFamily="34" charset="0"/>
                <a:cs typeface="Arial" panose="020B0604020202020204" pitchFamily="34" charset="0"/>
              </a:rPr>
              <a:t>CÔNG NGHỆ SỬ DỤNG</a:t>
            </a:r>
            <a:endParaRPr lang="vi-VN" sz="2800" b="1" dirty="0">
              <a:solidFill>
                <a:srgbClr val="002060"/>
              </a:solidFill>
              <a:latin typeface="Arial" panose="020B0604020202020204" pitchFamily="34" charset="0"/>
              <a:cs typeface="Arial" panose="020B0604020202020204" pitchFamily="34" charset="0"/>
            </a:endParaRPr>
          </a:p>
          <a:p>
            <a:pPr marL="400050" indent="-540000">
              <a:lnSpc>
                <a:spcPct val="150000"/>
              </a:lnSpc>
              <a:buFont typeface="+mj-lt"/>
              <a:buAutoNum type="romanUcPeriod"/>
            </a:pPr>
            <a:r>
              <a:rPr lang="en-US" sz="2800" b="1" dirty="0">
                <a:solidFill>
                  <a:srgbClr val="002060"/>
                </a:solidFill>
                <a:latin typeface="Arial" panose="020B0604020202020204" pitchFamily="34" charset="0"/>
                <a:cs typeface="Arial" panose="020B0604020202020204" pitchFamily="34" charset="0"/>
              </a:rPr>
              <a:t>PHÂN TÍCH </a:t>
            </a:r>
            <a:r>
              <a:rPr lang="vi-VN" sz="2800" b="1" dirty="0">
                <a:solidFill>
                  <a:srgbClr val="002060"/>
                </a:solidFill>
                <a:latin typeface="Arial" panose="020B0604020202020204" pitchFamily="34" charset="0"/>
                <a:cs typeface="Arial" panose="020B0604020202020204" pitchFamily="34" charset="0"/>
              </a:rPr>
              <a:t>VÀ</a:t>
            </a:r>
            <a:r>
              <a:rPr lang="en-US" sz="2800" b="1" dirty="0">
                <a:solidFill>
                  <a:srgbClr val="002060"/>
                </a:solidFill>
                <a:latin typeface="Arial" panose="020B0604020202020204" pitchFamily="34" charset="0"/>
                <a:cs typeface="Arial" panose="020B0604020202020204" pitchFamily="34" charset="0"/>
              </a:rPr>
              <a:t> THIẾT KẾ HỆ THỐNG</a:t>
            </a:r>
            <a:endParaRPr lang="vi-VN" sz="2800" b="1" dirty="0">
              <a:solidFill>
                <a:srgbClr val="002060"/>
              </a:solidFill>
              <a:latin typeface="Arial" panose="020B0604020202020204" pitchFamily="34" charset="0"/>
              <a:cs typeface="Arial" panose="020B0604020202020204" pitchFamily="34" charset="0"/>
            </a:endParaRPr>
          </a:p>
          <a:p>
            <a:pPr marL="400050" indent="-540000">
              <a:lnSpc>
                <a:spcPct val="150000"/>
              </a:lnSpc>
              <a:buFont typeface="+mj-lt"/>
              <a:buAutoNum type="romanUcPeriod"/>
            </a:pPr>
            <a:r>
              <a:rPr lang="vi-VN" sz="2800" b="1" dirty="0">
                <a:solidFill>
                  <a:srgbClr val="002060"/>
                </a:solidFill>
                <a:latin typeface="Arial" panose="020B0604020202020204" pitchFamily="34" charset="0"/>
                <a:cs typeface="Arial" panose="020B0604020202020204" pitchFamily="34" charset="0"/>
              </a:rPr>
              <a:t>KẾT QUẢ ĐẠT ĐƯỢC</a:t>
            </a:r>
          </a:p>
          <a:p>
            <a:pPr marL="400050" indent="-540000">
              <a:lnSpc>
                <a:spcPct val="150000"/>
              </a:lnSpc>
              <a:buFont typeface="+mj-lt"/>
              <a:buAutoNum type="romanUcPeriod"/>
            </a:pPr>
            <a:r>
              <a:rPr lang="vi-VN" sz="2800" b="1" dirty="0">
                <a:solidFill>
                  <a:srgbClr val="002060"/>
                </a:solidFill>
                <a:latin typeface="Arial" panose="020B0604020202020204" pitchFamily="34" charset="0"/>
                <a:cs typeface="Arial" panose="020B0604020202020204" pitchFamily="34" charset="0"/>
              </a:rPr>
              <a:t>KẾT LUẬN VÀ HƯỚNG PHÁT TRIỂN</a:t>
            </a:r>
            <a:endParaRPr lang="en-US" sz="2800" b="1"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97593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F077C-D8C1-7BA2-A1BF-A4FA8BEB935C}"/>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7D8CC1D0-4417-B28B-574F-299C35CAEA72}"/>
              </a:ext>
            </a:extLst>
          </p:cNvPr>
          <p:cNvSpPr txBox="1"/>
          <p:nvPr/>
        </p:nvSpPr>
        <p:spPr>
          <a:xfrm>
            <a:off x="900000" y="252000"/>
            <a:ext cx="7593760" cy="523220"/>
          </a:xfrm>
          <a:prstGeom prst="rect">
            <a:avLst/>
          </a:prstGeom>
          <a:noFill/>
        </p:spPr>
        <p:txBody>
          <a:bodyPr wrap="square" rtlCol="0">
            <a:spAutoFit/>
          </a:bodyPr>
          <a:lstStyle/>
          <a:p>
            <a:pPr marL="399600" indent="-540000">
              <a:buFont typeface="+mj-lt"/>
              <a:buAutoNum type="romanUcPeriod"/>
            </a:pPr>
            <a:r>
              <a:rPr lang="vi-VN" sz="2800" b="1" dirty="0">
                <a:solidFill>
                  <a:srgbClr val="002060"/>
                </a:solidFill>
                <a:latin typeface="Arial" panose="020B0604020202020204" pitchFamily="34" charset="0"/>
                <a:cs typeface="Arial" panose="020B0604020202020204" pitchFamily="34" charset="0"/>
              </a:rPr>
              <a:t>LÝ DO CHỌN ĐỀ TÀI</a:t>
            </a:r>
          </a:p>
        </p:txBody>
      </p:sp>
      <p:sp>
        <p:nvSpPr>
          <p:cNvPr id="8" name="Hộp Văn bản 7">
            <a:extLst>
              <a:ext uri="{FF2B5EF4-FFF2-40B4-BE49-F238E27FC236}">
                <a16:creationId xmlns:a16="http://schemas.microsoft.com/office/drawing/2014/main" id="{2A0F5A15-264A-257B-BD5E-3673F7E90938}"/>
              </a:ext>
            </a:extLst>
          </p:cNvPr>
          <p:cNvSpPr txBox="1"/>
          <p:nvPr/>
        </p:nvSpPr>
        <p:spPr>
          <a:xfrm>
            <a:off x="720000" y="1080000"/>
            <a:ext cx="10800000" cy="445583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vi-VN" sz="2400" dirty="0"/>
              <a:t>Hoạt động tình nguyện tại Việt Nam ngày càng phát triển, thu hút nhiều tình nguyện viên trong và ngoài nước.</a:t>
            </a:r>
          </a:p>
          <a:p>
            <a:pPr marL="342900" indent="-342900">
              <a:lnSpc>
                <a:spcPct val="150000"/>
              </a:lnSpc>
              <a:buFont typeface="Arial" panose="020B0604020202020204" pitchFamily="34" charset="0"/>
              <a:buChar char="•"/>
            </a:pPr>
            <a:r>
              <a:rPr lang="vi-VN" sz="2400" dirty="0"/>
              <a:t>Nhiều tổ chức phi lợi nhuận vẫn quản lý tình nguyện viên bằng phương pháp thủ công</a:t>
            </a:r>
          </a:p>
          <a:p>
            <a:pPr marL="342900" indent="-342900">
              <a:lnSpc>
                <a:spcPct val="150000"/>
              </a:lnSpc>
              <a:buFont typeface="Arial" panose="020B0604020202020204" pitchFamily="34" charset="0"/>
              <a:buChar char="•"/>
            </a:pPr>
            <a:r>
              <a:rPr lang="vi-VN" sz="2400" dirty="0"/>
              <a:t>Việc quản lý thủ công gây khó khăn trong việc lưu trữ, tra cứu thông tin, phân công nhiệm vụ, theo dõi tiến độ và thống kê báo cáo</a:t>
            </a:r>
          </a:p>
          <a:p>
            <a:pPr marL="342900" indent="-342900">
              <a:lnSpc>
                <a:spcPct val="150000"/>
              </a:lnSpc>
              <a:buFont typeface="Wingdings" panose="05000000000000000000" pitchFamily="2" charset="2"/>
              <a:buChar char="Ø"/>
            </a:pPr>
            <a:r>
              <a:rPr lang="vi-VN" sz="2400" b="1" dirty="0"/>
              <a:t>Vì vậy, cần xây dựng hệ thống </a:t>
            </a:r>
            <a:r>
              <a:rPr lang="vi-VN" sz="2400" b="1" dirty="0" err="1"/>
              <a:t>web</a:t>
            </a:r>
            <a:r>
              <a:rPr lang="vi-VN" sz="2400" b="1" dirty="0"/>
              <a:t> quản lý và hỗ trợ tình nguyện viên một cách tập trung, hiệu quả và hiện đại</a:t>
            </a:r>
          </a:p>
        </p:txBody>
      </p:sp>
    </p:spTree>
    <p:extLst>
      <p:ext uri="{BB962C8B-B14F-4D97-AF65-F5344CB8AC3E}">
        <p14:creationId xmlns:p14="http://schemas.microsoft.com/office/powerpoint/2010/main" val="4881994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35899-9E33-B276-4877-E7BCA8325869}"/>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E9A9BFAC-5223-0ED4-8C23-73B245B5A4A9}"/>
              </a:ext>
            </a:extLst>
          </p:cNvPr>
          <p:cNvSpPr txBox="1"/>
          <p:nvPr/>
        </p:nvSpPr>
        <p:spPr>
          <a:xfrm>
            <a:off x="900000" y="252000"/>
            <a:ext cx="7593760" cy="523220"/>
          </a:xfrm>
          <a:prstGeom prst="rect">
            <a:avLst/>
          </a:prstGeom>
          <a:noFill/>
        </p:spPr>
        <p:txBody>
          <a:bodyPr wrap="square" rtlCol="0">
            <a:spAutoFit/>
          </a:bodyPr>
          <a:lstStyle/>
          <a:p>
            <a:pPr marL="399600" indent="-540000">
              <a:buFont typeface="+mj-lt"/>
              <a:buAutoNum type="romanUcPeriod" startAt="2"/>
            </a:pPr>
            <a:r>
              <a:rPr lang="vi-VN" sz="2800" b="1" dirty="0">
                <a:solidFill>
                  <a:srgbClr val="002060"/>
                </a:solidFill>
                <a:latin typeface="Arial" panose="020B0604020202020204" pitchFamily="34" charset="0"/>
                <a:cs typeface="Arial" panose="020B0604020202020204" pitchFamily="34" charset="0"/>
              </a:rPr>
              <a:t>MỤC TIÊU VÀ PHẠM VI</a:t>
            </a:r>
          </a:p>
        </p:txBody>
      </p:sp>
      <p:sp>
        <p:nvSpPr>
          <p:cNvPr id="8" name="Hộp Văn bản 7">
            <a:extLst>
              <a:ext uri="{FF2B5EF4-FFF2-40B4-BE49-F238E27FC236}">
                <a16:creationId xmlns:a16="http://schemas.microsoft.com/office/drawing/2014/main" id="{9642A32A-25C8-200F-3780-C534601C9B4F}"/>
              </a:ext>
            </a:extLst>
          </p:cNvPr>
          <p:cNvSpPr txBox="1"/>
          <p:nvPr/>
        </p:nvSpPr>
        <p:spPr>
          <a:xfrm>
            <a:off x="720000" y="1080000"/>
            <a:ext cx="10800000" cy="5563831"/>
          </a:xfrm>
          <a:prstGeom prst="rect">
            <a:avLst/>
          </a:prstGeom>
          <a:noFill/>
        </p:spPr>
        <p:txBody>
          <a:bodyPr wrap="square" rtlCol="0">
            <a:spAutoFit/>
          </a:bodyPr>
          <a:lstStyle/>
          <a:p>
            <a:pPr>
              <a:lnSpc>
                <a:spcPct val="150000"/>
              </a:lnSpc>
            </a:pPr>
            <a:r>
              <a:rPr lang="en-US" sz="2400" b="1" dirty="0" err="1">
                <a:latin typeface="Arial" panose="020B0604020202020204" pitchFamily="34" charset="0"/>
                <a:cs typeface="Arial" panose="020B0604020202020204" pitchFamily="34" charset="0"/>
              </a:rPr>
              <a:t>Mục</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tiêu</a:t>
            </a:r>
            <a:endParaRPr lang="en-US" sz="2400" b="1"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sz="2400" dirty="0" err="1">
                <a:latin typeface="Arial" panose="020B0604020202020204" pitchFamily="34" charset="0"/>
                <a:cs typeface="Arial" panose="020B0604020202020204" pitchFamily="34" charset="0"/>
              </a:rPr>
              <a:t>Xây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dựng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hệ</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thống</a:t>
            </a:r>
            <a:r>
              <a:rPr lang="en-US" sz="2400" dirty="0">
                <a:latin typeface="Arial" panose="020B0604020202020204" pitchFamily="34" charset="0"/>
                <a:cs typeface="Arial" panose="020B0604020202020204" pitchFamily="34" charset="0"/>
              </a:rPr>
              <a:t> web </a:t>
            </a:r>
            <a:r>
              <a:rPr lang="en-US" sz="2400" dirty="0" err="1">
                <a:latin typeface="Arial" panose="020B0604020202020204" pitchFamily="34" charset="0"/>
                <a:cs typeface="Arial" panose="020B0604020202020204" pitchFamily="34" charset="0"/>
              </a:rPr>
              <a:t>hỗ</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tổ</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chức</a:t>
            </a:r>
            <a:r>
              <a:rPr lang="en-US" sz="2400" dirty="0">
                <a:latin typeface="Arial" panose="020B0604020202020204" pitchFamily="34" charset="0"/>
                <a:cs typeface="Arial" panose="020B0604020202020204" pitchFamily="34" charset="0"/>
              </a:rPr>
              <a:t> phi </a:t>
            </a:r>
            <a:r>
              <a:rPr lang="en-US" sz="2400" dirty="0" err="1">
                <a:latin typeface="Arial" panose="020B0604020202020204" pitchFamily="34" charset="0"/>
                <a:cs typeface="Arial" panose="020B0604020202020204" pitchFamily="34" charset="0"/>
              </a:rPr>
              <a:t>lợi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nhuận</a:t>
            </a:r>
            <a:r>
              <a:rPr lang="en-US" sz="2400" dirty="0">
                <a:latin typeface="Arial" panose="020B0604020202020204" pitchFamily="34" charset="0"/>
                <a:cs typeface="Arial" panose="020B0604020202020204" pitchFamily="34" charset="0"/>
              </a:rPr>
              <a:t>:</a:t>
            </a:r>
          </a:p>
          <a:p>
            <a:pPr marL="800100" lvl="1" indent="-342900">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Quản </a:t>
            </a:r>
            <a:r>
              <a:rPr lang="en-US" sz="2400" dirty="0" err="1">
                <a:latin typeface="Arial" panose="020B0604020202020204" pitchFamily="34" charset="0"/>
                <a:cs typeface="Arial" panose="020B0604020202020204" pitchFamily="34" charset="0"/>
              </a:rPr>
              <a:t>lý</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thông</a:t>
            </a:r>
            <a:r>
              <a:rPr lang="en-US" sz="2400" dirty="0">
                <a:latin typeface="Arial" panose="020B0604020202020204" pitchFamily="34" charset="0"/>
                <a:cs typeface="Arial" panose="020B0604020202020204" pitchFamily="34" charset="0"/>
              </a:rPr>
              <a:t> tin </a:t>
            </a:r>
            <a:r>
              <a:rPr lang="en-US" sz="2400" dirty="0" err="1">
                <a:latin typeface="Arial" panose="020B0604020202020204" pitchFamily="34" charset="0"/>
                <a:cs typeface="Arial" panose="020B0604020202020204" pitchFamily="34" charset="0"/>
              </a:rPr>
              <a:t>tình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nguyện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viên</a:t>
            </a:r>
            <a:endParaRPr lang="en-US" sz="2400" dirty="0">
              <a:latin typeface="Arial" panose="020B0604020202020204" pitchFamily="34" charset="0"/>
              <a:cs typeface="Arial" panose="020B0604020202020204" pitchFamily="34" charset="0"/>
            </a:endParaRPr>
          </a:p>
          <a:p>
            <a:pPr marL="800100" lvl="1" indent="-342900">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Quản </a:t>
            </a:r>
            <a:r>
              <a:rPr lang="en-US" sz="2400" dirty="0" err="1">
                <a:latin typeface="Arial" panose="020B0604020202020204" pitchFamily="34" charset="0"/>
                <a:cs typeface="Arial" panose="020B0604020202020204" pitchFamily="34" charset="0"/>
              </a:rPr>
              <a:t>lý</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hoạt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động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nguyện</a:t>
            </a:r>
            <a:endParaRPr lang="en-US" sz="2400" dirty="0">
              <a:latin typeface="Arial" panose="020B0604020202020204" pitchFamily="34" charset="0"/>
              <a:cs typeface="Arial" panose="020B0604020202020204" pitchFamily="34" charset="0"/>
            </a:endParaRPr>
          </a:p>
          <a:p>
            <a:pPr marL="800100" lvl="1" indent="-342900">
              <a:lnSpc>
                <a:spcPct val="150000"/>
              </a:lnSpc>
              <a:buFont typeface="Arial" panose="020B0604020202020204" pitchFamily="34" charset="0"/>
              <a:buChar char="-"/>
            </a:pPr>
            <a:r>
              <a:rPr lang="en-US" sz="2400" dirty="0" err="1">
                <a:latin typeface="Arial" panose="020B0604020202020204" pitchFamily="34" charset="0"/>
                <a:cs typeface="Arial" panose="020B0604020202020204" pitchFamily="34" charset="0"/>
              </a:rPr>
              <a:t>Hỗ</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đăng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ký</a:t>
            </a:r>
            <a:r>
              <a:rPr lang="vi-VN"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theo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dõi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hoạt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động</a:t>
            </a:r>
            <a:endParaRPr 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Tin </a:t>
            </a:r>
            <a:r>
              <a:rPr lang="en-US" sz="2400" dirty="0" err="1">
                <a:latin typeface="Arial" panose="020B0604020202020204" pitchFamily="34" charset="0"/>
                <a:cs typeface="Arial" panose="020B0604020202020204" pitchFamily="34" charset="0"/>
              </a:rPr>
              <a:t>học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hóa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quản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lý</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giảm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thao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thủ</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công</a:t>
            </a:r>
            <a:r>
              <a:rPr lang="en-US" sz="2400" dirty="0">
                <a:latin typeface="Arial" panose="020B0604020202020204" pitchFamily="34" charset="0"/>
                <a:cs typeface="Arial" panose="020B0604020202020204" pitchFamily="34" charset="0"/>
              </a:rPr>
              <a:t>.</a:t>
            </a:r>
          </a:p>
          <a:p>
            <a:pPr marL="342900" indent="-342900">
              <a:lnSpc>
                <a:spcPct val="150000"/>
              </a:lnSpc>
              <a:buFont typeface="Arial" panose="020B0604020202020204" pitchFamily="34" charset="0"/>
              <a:buChar char="•"/>
            </a:pPr>
            <a:r>
              <a:rPr lang="en-US" sz="2400" dirty="0" err="1">
                <a:latin typeface="Arial" panose="020B0604020202020204" pitchFamily="34" charset="0"/>
                <a:cs typeface="Arial" panose="020B0604020202020204" pitchFamily="34" charset="0"/>
              </a:rPr>
              <a:t>Đảm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bảo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hệ</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thống</a:t>
            </a:r>
            <a:r>
              <a:rPr lang="en-US" sz="2400" dirty="0">
                <a:latin typeface="Arial" panose="020B0604020202020204" pitchFamily="34" charset="0"/>
                <a:cs typeface="Arial" panose="020B0604020202020204" pitchFamily="34" charset="0"/>
              </a:rPr>
              <a:t>:</a:t>
            </a:r>
          </a:p>
          <a:p>
            <a:pPr marL="800100" lvl="1" indent="-342900">
              <a:lnSpc>
                <a:spcPct val="150000"/>
              </a:lnSpc>
              <a:buFont typeface="Arial" panose="020B0604020202020204" pitchFamily="34" charset="0"/>
              <a:buChar char="-"/>
            </a:pPr>
            <a:r>
              <a:rPr lang="en-US" sz="2400" dirty="0" err="1">
                <a:latin typeface="Arial" panose="020B0604020202020204" pitchFamily="34" charset="0"/>
                <a:cs typeface="Arial" panose="020B0604020202020204" pitchFamily="34" charset="0"/>
              </a:rPr>
              <a:t>Dễ</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sử</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dụng</a:t>
            </a:r>
            <a:endParaRPr lang="en-US" sz="2400" dirty="0">
              <a:latin typeface="Arial" panose="020B0604020202020204" pitchFamily="34" charset="0"/>
              <a:cs typeface="Arial" panose="020B0604020202020204" pitchFamily="34" charset="0"/>
            </a:endParaRPr>
          </a:p>
          <a:p>
            <a:pPr marL="800100" lvl="1" indent="-342900">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Bảo </a:t>
            </a:r>
            <a:r>
              <a:rPr lang="en-US" sz="2400" dirty="0" err="1">
                <a:latin typeface="Arial" panose="020B0604020202020204" pitchFamily="34" charset="0"/>
                <a:cs typeface="Arial" panose="020B0604020202020204" pitchFamily="34" charset="0"/>
              </a:rPr>
              <a:t>mật</a:t>
            </a:r>
            <a:endParaRPr lang="en-US" sz="2400" dirty="0">
              <a:latin typeface="Arial" panose="020B0604020202020204" pitchFamily="34" charset="0"/>
              <a:cs typeface="Arial" panose="020B0604020202020204" pitchFamily="34" charset="0"/>
            </a:endParaRPr>
          </a:p>
          <a:p>
            <a:pPr marL="800100" lvl="1" indent="-342900">
              <a:lnSpc>
                <a:spcPct val="150000"/>
              </a:lnSpc>
              <a:buFont typeface="Arial" panose="020B0604020202020204" pitchFamily="34" charset="0"/>
              <a:buChar char="-"/>
            </a:pP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năng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mở</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rộng</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0814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F65C3-A383-9F2E-9FF6-B77AE140BB3E}"/>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115E1DF7-AD54-3B28-FFB3-0DEDED7363D0}"/>
              </a:ext>
            </a:extLst>
          </p:cNvPr>
          <p:cNvSpPr txBox="1"/>
          <p:nvPr/>
        </p:nvSpPr>
        <p:spPr>
          <a:xfrm>
            <a:off x="900000" y="252000"/>
            <a:ext cx="7593760" cy="523220"/>
          </a:xfrm>
          <a:prstGeom prst="rect">
            <a:avLst/>
          </a:prstGeom>
          <a:noFill/>
        </p:spPr>
        <p:txBody>
          <a:bodyPr wrap="square" rtlCol="0">
            <a:spAutoFit/>
          </a:bodyPr>
          <a:lstStyle/>
          <a:p>
            <a:pPr marL="399600" indent="-540000">
              <a:buFont typeface="+mj-lt"/>
              <a:buAutoNum type="romanUcPeriod" startAt="2"/>
            </a:pPr>
            <a:r>
              <a:rPr lang="vi-VN" sz="2800" b="1" dirty="0">
                <a:solidFill>
                  <a:srgbClr val="002060"/>
                </a:solidFill>
                <a:latin typeface="Arial" panose="020B0604020202020204" pitchFamily="34" charset="0"/>
                <a:cs typeface="Arial" panose="020B0604020202020204" pitchFamily="34" charset="0"/>
              </a:rPr>
              <a:t>MỤC TIÊU VÀ PHẠM VI</a:t>
            </a:r>
          </a:p>
        </p:txBody>
      </p:sp>
      <p:sp>
        <p:nvSpPr>
          <p:cNvPr id="8" name="Hộp Văn bản 7">
            <a:extLst>
              <a:ext uri="{FF2B5EF4-FFF2-40B4-BE49-F238E27FC236}">
                <a16:creationId xmlns:a16="http://schemas.microsoft.com/office/drawing/2014/main" id="{97FCC8B8-94FA-75C4-BDCD-48D55318A5FC}"/>
              </a:ext>
            </a:extLst>
          </p:cNvPr>
          <p:cNvSpPr txBox="1"/>
          <p:nvPr/>
        </p:nvSpPr>
        <p:spPr>
          <a:xfrm>
            <a:off x="720000" y="1080000"/>
            <a:ext cx="10800000" cy="3347840"/>
          </a:xfrm>
          <a:prstGeom prst="rect">
            <a:avLst/>
          </a:prstGeom>
          <a:noFill/>
        </p:spPr>
        <p:txBody>
          <a:bodyPr wrap="square" rtlCol="0">
            <a:spAutoFit/>
          </a:bodyPr>
          <a:lstStyle/>
          <a:p>
            <a:pPr>
              <a:lnSpc>
                <a:spcPct val="150000"/>
              </a:lnSpc>
            </a:pPr>
            <a:r>
              <a:rPr lang="en-US" sz="2400" b="1" dirty="0">
                <a:latin typeface="Arial" panose="020B0604020202020204" pitchFamily="34" charset="0"/>
                <a:cs typeface="Arial" panose="020B0604020202020204" pitchFamily="34" charset="0"/>
              </a:rPr>
              <a:t>Phạm vi</a:t>
            </a:r>
          </a:p>
          <a:p>
            <a:pPr marL="342900" indent="-342900">
              <a:lnSpc>
                <a:spcPct val="150000"/>
              </a:lnSpc>
              <a:buFont typeface="Arial" panose="020B0604020202020204" pitchFamily="34" charset="0"/>
              <a:buChar char="•"/>
            </a:pPr>
            <a:r>
              <a:rPr lang="en-US" sz="2400" dirty="0" err="1">
                <a:latin typeface="Arial" panose="020B0604020202020204" pitchFamily="34" charset="0"/>
                <a:cs typeface="Arial" panose="020B0604020202020204" pitchFamily="34" charset="0"/>
              </a:rPr>
              <a:t>Áp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dụng</a:t>
            </a:r>
            <a:r>
              <a:rPr lang="en-US" sz="2400" dirty="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cho</a:t>
            </a:r>
            <a:r>
              <a:rPr lang="en-US" sz="2400" dirty="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các tổ chức phi lợi nhuận</a:t>
            </a:r>
          </a:p>
          <a:p>
            <a:pPr marL="342900" indent="-342900">
              <a:lnSpc>
                <a:spcPct val="150000"/>
              </a:lnSpc>
              <a:buFont typeface="Arial" panose="020B0604020202020204" pitchFamily="34" charset="0"/>
              <a:buChar char="•"/>
            </a:pPr>
            <a:r>
              <a:rPr lang="en-US" sz="2400" dirty="0" err="1">
                <a:latin typeface="Arial" panose="020B0604020202020204" pitchFamily="34" charset="0"/>
                <a:cs typeface="Arial" panose="020B0604020202020204" pitchFamily="34" charset="0"/>
              </a:rPr>
              <a:t>Không</a:t>
            </a:r>
            <a:r>
              <a:rPr lang="en-US" sz="2400" dirty="0">
                <a:latin typeface="Arial" panose="020B0604020202020204" pitchFamily="34" charset="0"/>
                <a:cs typeface="Arial" panose="020B0604020202020204" pitchFamily="34" charset="0"/>
              </a:rPr>
              <a:t> bao </a:t>
            </a:r>
            <a:r>
              <a:rPr lang="en-US" sz="2400" dirty="0" err="1">
                <a:latin typeface="Arial" panose="020B0604020202020204" pitchFamily="34" charset="0"/>
                <a:cs typeface="Arial" panose="020B0604020202020204" pitchFamily="34" charset="0"/>
              </a:rPr>
              <a:t>gồm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chức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năng</a:t>
            </a:r>
            <a:r>
              <a:rPr lang="en-US" sz="2400" dirty="0">
                <a:latin typeface="Arial" panose="020B0604020202020204" pitchFamily="34" charset="0"/>
                <a:cs typeface="Arial" panose="020B0604020202020204" pitchFamily="34" charset="0"/>
              </a:rPr>
              <a:t>:</a:t>
            </a:r>
          </a:p>
          <a:p>
            <a:pPr marL="800100" lvl="1" indent="-342900">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Tài </a:t>
            </a:r>
            <a:r>
              <a:rPr lang="en-US" sz="2400" dirty="0" err="1">
                <a:latin typeface="Arial" panose="020B0604020202020204" pitchFamily="34" charset="0"/>
                <a:cs typeface="Arial" panose="020B0604020202020204" pitchFamily="34" charset="0"/>
              </a:rPr>
              <a:t>chính</a:t>
            </a:r>
            <a:endParaRPr lang="en-US" sz="2400" dirty="0">
              <a:latin typeface="Arial" panose="020B0604020202020204" pitchFamily="34" charset="0"/>
              <a:cs typeface="Arial" panose="020B0604020202020204" pitchFamily="34" charset="0"/>
            </a:endParaRPr>
          </a:p>
          <a:p>
            <a:pPr marL="800100" lvl="1" indent="-342900">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Quyên </a:t>
            </a:r>
            <a:r>
              <a:rPr lang="en-US" sz="2400" dirty="0" err="1">
                <a:latin typeface="Arial" panose="020B0604020202020204" pitchFamily="34" charset="0"/>
                <a:cs typeface="Arial" panose="020B0604020202020204" pitchFamily="34" charset="0"/>
              </a:rPr>
              <a:t>góp</a:t>
            </a:r>
            <a:endParaRPr lang="en-US" sz="2400" dirty="0">
              <a:latin typeface="Arial" panose="020B0604020202020204" pitchFamily="34" charset="0"/>
              <a:cs typeface="Arial" panose="020B0604020202020204" pitchFamily="34" charset="0"/>
            </a:endParaRPr>
          </a:p>
          <a:p>
            <a:pPr marL="800100" lvl="1" indent="-342900">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Thanh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trực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tuyến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24127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AAA2C-171C-7361-0EFD-E327625947E4}"/>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76F3516A-1AE0-2297-7372-04615C84AEB1}"/>
              </a:ext>
            </a:extLst>
          </p:cNvPr>
          <p:cNvSpPr txBox="1"/>
          <p:nvPr/>
        </p:nvSpPr>
        <p:spPr>
          <a:xfrm>
            <a:off x="900000" y="252000"/>
            <a:ext cx="7593760" cy="523220"/>
          </a:xfrm>
          <a:prstGeom prst="rect">
            <a:avLst/>
          </a:prstGeom>
          <a:noFill/>
        </p:spPr>
        <p:txBody>
          <a:bodyPr wrap="square" rtlCol="0">
            <a:spAutoFit/>
          </a:bodyPr>
          <a:lstStyle/>
          <a:p>
            <a:pPr marL="399600" indent="-540000">
              <a:buFont typeface="+mj-lt"/>
              <a:buAutoNum type="romanUcPeriod" startAt="3"/>
            </a:pPr>
            <a:r>
              <a:rPr lang="vi-VN" sz="2800" b="1">
                <a:solidFill>
                  <a:srgbClr val="002060"/>
                </a:solidFill>
                <a:latin typeface="Arial" panose="020B0604020202020204" pitchFamily="34" charset="0"/>
                <a:cs typeface="Arial" panose="020B0604020202020204" pitchFamily="34" charset="0"/>
              </a:rPr>
              <a:t>ĐỐI TƯỢNG VÀ NGHIỆP VỤ</a:t>
            </a:r>
            <a:endParaRPr lang="vi-VN" sz="2800" b="1" dirty="0">
              <a:solidFill>
                <a:srgbClr val="002060"/>
              </a:solidFill>
              <a:latin typeface="Arial" panose="020B0604020202020204" pitchFamily="34" charset="0"/>
              <a:cs typeface="Arial" panose="020B0604020202020204" pitchFamily="34" charset="0"/>
            </a:endParaRPr>
          </a:p>
        </p:txBody>
      </p:sp>
      <p:sp>
        <p:nvSpPr>
          <p:cNvPr id="8" name="Hộp Văn bản 7">
            <a:extLst>
              <a:ext uri="{FF2B5EF4-FFF2-40B4-BE49-F238E27FC236}">
                <a16:creationId xmlns:a16="http://schemas.microsoft.com/office/drawing/2014/main" id="{93CDC379-A45E-4F50-4076-882D259ADF1E}"/>
              </a:ext>
            </a:extLst>
          </p:cNvPr>
          <p:cNvSpPr txBox="1"/>
          <p:nvPr/>
        </p:nvSpPr>
        <p:spPr>
          <a:xfrm>
            <a:off x="720000" y="1080000"/>
            <a:ext cx="10800000" cy="2239844"/>
          </a:xfrm>
          <a:prstGeom prst="rect">
            <a:avLst/>
          </a:prstGeom>
          <a:noFill/>
        </p:spPr>
        <p:txBody>
          <a:bodyPr wrap="square" rtlCol="0">
            <a:spAutoFit/>
          </a:bodyPr>
          <a:lstStyle/>
          <a:p>
            <a:pPr>
              <a:lnSpc>
                <a:spcPct val="150000"/>
              </a:lnSpc>
            </a:pPr>
            <a:r>
              <a:rPr lang="vi-VN" sz="2400" b="1" dirty="0"/>
              <a:t>Đối tượng sử dụng</a:t>
            </a:r>
          </a:p>
          <a:p>
            <a:pPr marL="914400" lvl="1" indent="-457200">
              <a:lnSpc>
                <a:spcPct val="150000"/>
              </a:lnSpc>
              <a:buFont typeface="+mj-lt"/>
              <a:buAutoNum type="arabicParenR"/>
            </a:pPr>
            <a:r>
              <a:rPr lang="vi-VN" sz="2400" dirty="0"/>
              <a:t>Tình nguyện viên</a:t>
            </a:r>
          </a:p>
          <a:p>
            <a:pPr marL="914400" lvl="1" indent="-457200">
              <a:lnSpc>
                <a:spcPct val="150000"/>
              </a:lnSpc>
              <a:buFont typeface="+mj-lt"/>
              <a:buAutoNum type="arabicParenR"/>
            </a:pPr>
            <a:r>
              <a:rPr lang="vi-VN" sz="2400" dirty="0"/>
              <a:t>Tổ chức / Điều phối viên</a:t>
            </a:r>
          </a:p>
          <a:p>
            <a:pPr marL="914400" lvl="1" indent="-457200">
              <a:lnSpc>
                <a:spcPct val="150000"/>
              </a:lnSpc>
              <a:buFont typeface="+mj-lt"/>
              <a:buAutoNum type="arabicParenR"/>
            </a:pPr>
            <a:r>
              <a:rPr lang="vi-VN" sz="2400" dirty="0"/>
              <a:t>Quản trị viên (</a:t>
            </a:r>
            <a:r>
              <a:rPr lang="vi-VN" sz="2400" dirty="0" err="1"/>
              <a:t>Admin</a:t>
            </a:r>
            <a:r>
              <a:rPr lang="vi-VN" sz="2400" dirty="0"/>
              <a:t>)</a:t>
            </a:r>
          </a:p>
        </p:txBody>
      </p:sp>
    </p:spTree>
    <p:extLst>
      <p:ext uri="{BB962C8B-B14F-4D97-AF65-F5344CB8AC3E}">
        <p14:creationId xmlns:p14="http://schemas.microsoft.com/office/powerpoint/2010/main" val="4197422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E6A84-B946-6510-D84A-4434756448AD}"/>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92439197-CF38-5F11-95CC-9035DBE55AF6}"/>
              </a:ext>
            </a:extLst>
          </p:cNvPr>
          <p:cNvSpPr txBox="1"/>
          <p:nvPr/>
        </p:nvSpPr>
        <p:spPr>
          <a:xfrm>
            <a:off x="900000" y="252000"/>
            <a:ext cx="7593760" cy="523220"/>
          </a:xfrm>
          <a:prstGeom prst="rect">
            <a:avLst/>
          </a:prstGeom>
          <a:noFill/>
        </p:spPr>
        <p:txBody>
          <a:bodyPr wrap="square" rtlCol="0">
            <a:spAutoFit/>
          </a:bodyPr>
          <a:lstStyle/>
          <a:p>
            <a:pPr marL="399600" indent="-540000">
              <a:buFont typeface="+mj-lt"/>
              <a:buAutoNum type="romanUcPeriod" startAt="3"/>
            </a:pPr>
            <a:r>
              <a:rPr lang="vi-VN" sz="2800" b="1">
                <a:solidFill>
                  <a:srgbClr val="002060"/>
                </a:solidFill>
                <a:latin typeface="Arial" panose="020B0604020202020204" pitchFamily="34" charset="0"/>
                <a:cs typeface="Arial" panose="020B0604020202020204" pitchFamily="34" charset="0"/>
              </a:rPr>
              <a:t>ĐỐI TƯỢNG VÀ NGHIỆP VỤ</a:t>
            </a:r>
            <a:endParaRPr lang="vi-VN" sz="2800" b="1" dirty="0">
              <a:solidFill>
                <a:srgbClr val="002060"/>
              </a:solidFill>
              <a:latin typeface="Arial" panose="020B0604020202020204" pitchFamily="34" charset="0"/>
              <a:cs typeface="Arial" panose="020B0604020202020204" pitchFamily="34" charset="0"/>
            </a:endParaRPr>
          </a:p>
        </p:txBody>
      </p:sp>
      <p:sp>
        <p:nvSpPr>
          <p:cNvPr id="8" name="Hộp Văn bản 7">
            <a:extLst>
              <a:ext uri="{FF2B5EF4-FFF2-40B4-BE49-F238E27FC236}">
                <a16:creationId xmlns:a16="http://schemas.microsoft.com/office/drawing/2014/main" id="{1428C7D1-2881-BC84-D247-BDE3A9735F54}"/>
              </a:ext>
            </a:extLst>
          </p:cNvPr>
          <p:cNvSpPr txBox="1"/>
          <p:nvPr/>
        </p:nvSpPr>
        <p:spPr>
          <a:xfrm>
            <a:off x="720000" y="1080000"/>
            <a:ext cx="10800000" cy="2793842"/>
          </a:xfrm>
          <a:prstGeom prst="rect">
            <a:avLst/>
          </a:prstGeom>
          <a:noFill/>
        </p:spPr>
        <p:txBody>
          <a:bodyPr wrap="square" rtlCol="0">
            <a:spAutoFit/>
          </a:bodyPr>
          <a:lstStyle/>
          <a:p>
            <a:pPr>
              <a:lnSpc>
                <a:spcPct val="150000"/>
              </a:lnSpc>
            </a:pPr>
            <a:r>
              <a:rPr lang="vi-VN" sz="2400" b="1" dirty="0"/>
              <a:t>Nghiệp vụ chính</a:t>
            </a:r>
          </a:p>
          <a:p>
            <a:pPr marL="457200" indent="-457200">
              <a:lnSpc>
                <a:spcPct val="150000"/>
              </a:lnSpc>
              <a:buFont typeface="+mj-lt"/>
              <a:buAutoNum type="arabicParenR"/>
            </a:pPr>
            <a:r>
              <a:rPr lang="vi-VN" sz="2400" b="1" dirty="0"/>
              <a:t>Tình nguyện viên:</a:t>
            </a:r>
            <a:endParaRPr lang="vi-VN" sz="2400" dirty="0"/>
          </a:p>
          <a:p>
            <a:pPr marL="800100" lvl="1" indent="-342900">
              <a:lnSpc>
                <a:spcPct val="150000"/>
              </a:lnSpc>
              <a:buFont typeface="Arial" panose="020B0604020202020204" pitchFamily="34" charset="0"/>
              <a:buChar char="-"/>
            </a:pPr>
            <a:r>
              <a:rPr lang="vi-VN" sz="2400" dirty="0"/>
              <a:t>Đăng ký tài khoản, cập nhật hồ sơ</a:t>
            </a:r>
          </a:p>
          <a:p>
            <a:pPr marL="800100" lvl="1" indent="-342900">
              <a:lnSpc>
                <a:spcPct val="150000"/>
              </a:lnSpc>
              <a:buFont typeface="Arial" panose="020B0604020202020204" pitchFamily="34" charset="0"/>
              <a:buChar char="-"/>
            </a:pPr>
            <a:r>
              <a:rPr lang="vi-VN" sz="2400" dirty="0"/>
              <a:t>Xem và đăng ký hoạt động</a:t>
            </a:r>
          </a:p>
          <a:p>
            <a:pPr marL="800100" lvl="1" indent="-342900">
              <a:lnSpc>
                <a:spcPct val="150000"/>
              </a:lnSpc>
              <a:buFont typeface="Arial" panose="020B0604020202020204" pitchFamily="34" charset="0"/>
              <a:buChar char="-"/>
            </a:pPr>
            <a:r>
              <a:rPr lang="vi-VN" sz="2400" dirty="0"/>
              <a:t>Theo dõi nhiệm vụ, nhận thông báo</a:t>
            </a:r>
          </a:p>
        </p:txBody>
      </p:sp>
    </p:spTree>
    <p:extLst>
      <p:ext uri="{BB962C8B-B14F-4D97-AF65-F5344CB8AC3E}">
        <p14:creationId xmlns:p14="http://schemas.microsoft.com/office/powerpoint/2010/main" val="40393968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CAE1A-9BBE-4512-315C-A14064884CAA}"/>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91AE1529-7283-605B-B1FB-C406F0EEB9AF}"/>
              </a:ext>
            </a:extLst>
          </p:cNvPr>
          <p:cNvSpPr txBox="1"/>
          <p:nvPr/>
        </p:nvSpPr>
        <p:spPr>
          <a:xfrm>
            <a:off x="900000" y="252000"/>
            <a:ext cx="7593760" cy="523220"/>
          </a:xfrm>
          <a:prstGeom prst="rect">
            <a:avLst/>
          </a:prstGeom>
          <a:noFill/>
        </p:spPr>
        <p:txBody>
          <a:bodyPr wrap="square" rtlCol="0">
            <a:spAutoFit/>
          </a:bodyPr>
          <a:lstStyle/>
          <a:p>
            <a:pPr marL="399600" indent="-540000">
              <a:buFont typeface="+mj-lt"/>
              <a:buAutoNum type="romanUcPeriod" startAt="3"/>
            </a:pPr>
            <a:r>
              <a:rPr lang="vi-VN" sz="2800" b="1">
                <a:solidFill>
                  <a:srgbClr val="002060"/>
                </a:solidFill>
                <a:latin typeface="Arial" panose="020B0604020202020204" pitchFamily="34" charset="0"/>
                <a:cs typeface="Arial" panose="020B0604020202020204" pitchFamily="34" charset="0"/>
              </a:rPr>
              <a:t>ĐỐI TƯỢNG VÀ NGHIỆP VỤ</a:t>
            </a:r>
            <a:endParaRPr lang="vi-VN" sz="2800" b="1" dirty="0">
              <a:solidFill>
                <a:srgbClr val="002060"/>
              </a:solidFill>
              <a:latin typeface="Arial" panose="020B0604020202020204" pitchFamily="34" charset="0"/>
              <a:cs typeface="Arial" panose="020B0604020202020204" pitchFamily="34" charset="0"/>
            </a:endParaRPr>
          </a:p>
        </p:txBody>
      </p:sp>
      <p:sp>
        <p:nvSpPr>
          <p:cNvPr id="8" name="Hộp Văn bản 7">
            <a:extLst>
              <a:ext uri="{FF2B5EF4-FFF2-40B4-BE49-F238E27FC236}">
                <a16:creationId xmlns:a16="http://schemas.microsoft.com/office/drawing/2014/main" id="{94682428-EEE1-20A2-508B-F0E7D9FD82AE}"/>
              </a:ext>
            </a:extLst>
          </p:cNvPr>
          <p:cNvSpPr txBox="1"/>
          <p:nvPr/>
        </p:nvSpPr>
        <p:spPr>
          <a:xfrm>
            <a:off x="720000" y="1080000"/>
            <a:ext cx="10800000" cy="2793842"/>
          </a:xfrm>
          <a:prstGeom prst="rect">
            <a:avLst/>
          </a:prstGeom>
          <a:noFill/>
        </p:spPr>
        <p:txBody>
          <a:bodyPr wrap="square" rtlCol="0">
            <a:spAutoFit/>
          </a:bodyPr>
          <a:lstStyle/>
          <a:p>
            <a:pPr>
              <a:lnSpc>
                <a:spcPct val="150000"/>
              </a:lnSpc>
            </a:pPr>
            <a:r>
              <a:rPr lang="vi-VN" sz="2400" b="1" dirty="0"/>
              <a:t>Nghiệp vụ chính</a:t>
            </a:r>
          </a:p>
          <a:p>
            <a:pPr marL="457200" indent="-457200">
              <a:lnSpc>
                <a:spcPct val="150000"/>
              </a:lnSpc>
              <a:buFont typeface="+mj-lt"/>
              <a:buAutoNum type="arabicParenR" startAt="2"/>
            </a:pPr>
            <a:r>
              <a:rPr lang="vi-VN" sz="2400" b="1" dirty="0"/>
              <a:t>Tổ chức:</a:t>
            </a:r>
            <a:endParaRPr lang="vi-VN" sz="2400" dirty="0"/>
          </a:p>
          <a:p>
            <a:pPr marL="800100" lvl="1" indent="-342900">
              <a:lnSpc>
                <a:spcPct val="150000"/>
              </a:lnSpc>
              <a:buFont typeface="Arial" panose="020B0604020202020204" pitchFamily="34" charset="0"/>
              <a:buChar char="-"/>
            </a:pPr>
            <a:r>
              <a:rPr lang="vi-VN" sz="2400" dirty="0"/>
              <a:t>Tạo và quản lý hoạt động</a:t>
            </a:r>
          </a:p>
          <a:p>
            <a:pPr marL="800100" lvl="1" indent="-342900">
              <a:lnSpc>
                <a:spcPct val="150000"/>
              </a:lnSpc>
              <a:buFont typeface="Arial" panose="020B0604020202020204" pitchFamily="34" charset="0"/>
              <a:buChar char="-"/>
            </a:pPr>
            <a:r>
              <a:rPr lang="vi-VN" sz="2400" dirty="0"/>
              <a:t>Phân công tình nguyện viên</a:t>
            </a:r>
          </a:p>
          <a:p>
            <a:pPr marL="800100" lvl="1" indent="-342900">
              <a:lnSpc>
                <a:spcPct val="150000"/>
              </a:lnSpc>
              <a:buFont typeface="Arial" panose="020B0604020202020204" pitchFamily="34" charset="0"/>
              <a:buChar char="-"/>
            </a:pPr>
            <a:r>
              <a:rPr lang="vi-VN" sz="2400" dirty="0"/>
              <a:t>Theo dõi tiến độ, thống kê kết quả</a:t>
            </a:r>
          </a:p>
        </p:txBody>
      </p:sp>
    </p:spTree>
    <p:extLst>
      <p:ext uri="{BB962C8B-B14F-4D97-AF65-F5344CB8AC3E}">
        <p14:creationId xmlns:p14="http://schemas.microsoft.com/office/powerpoint/2010/main" val="12901442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10705-9343-69A3-6A6C-AD8A30D51920}"/>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9E46B904-E2CB-794F-C21D-B7C687170C20}"/>
              </a:ext>
            </a:extLst>
          </p:cNvPr>
          <p:cNvSpPr txBox="1"/>
          <p:nvPr/>
        </p:nvSpPr>
        <p:spPr>
          <a:xfrm>
            <a:off x="900000" y="252000"/>
            <a:ext cx="7593760" cy="523220"/>
          </a:xfrm>
          <a:prstGeom prst="rect">
            <a:avLst/>
          </a:prstGeom>
          <a:noFill/>
        </p:spPr>
        <p:txBody>
          <a:bodyPr wrap="square" rtlCol="0">
            <a:spAutoFit/>
          </a:bodyPr>
          <a:lstStyle/>
          <a:p>
            <a:pPr marL="399600" indent="-540000">
              <a:buFont typeface="+mj-lt"/>
              <a:buAutoNum type="romanUcPeriod" startAt="3"/>
            </a:pPr>
            <a:r>
              <a:rPr lang="vi-VN" sz="2800" b="1">
                <a:solidFill>
                  <a:srgbClr val="002060"/>
                </a:solidFill>
                <a:latin typeface="Arial" panose="020B0604020202020204" pitchFamily="34" charset="0"/>
                <a:cs typeface="Arial" panose="020B0604020202020204" pitchFamily="34" charset="0"/>
              </a:rPr>
              <a:t>ĐỐI TƯỢNG VÀ NGHIỆP VỤ</a:t>
            </a:r>
            <a:endParaRPr lang="vi-VN" sz="2800" b="1" dirty="0">
              <a:solidFill>
                <a:srgbClr val="002060"/>
              </a:solidFill>
              <a:latin typeface="Arial" panose="020B0604020202020204" pitchFamily="34" charset="0"/>
              <a:cs typeface="Arial" panose="020B0604020202020204" pitchFamily="34" charset="0"/>
            </a:endParaRPr>
          </a:p>
        </p:txBody>
      </p:sp>
      <p:sp>
        <p:nvSpPr>
          <p:cNvPr id="8" name="Hộp Văn bản 7">
            <a:extLst>
              <a:ext uri="{FF2B5EF4-FFF2-40B4-BE49-F238E27FC236}">
                <a16:creationId xmlns:a16="http://schemas.microsoft.com/office/drawing/2014/main" id="{D77AA07B-0B13-24BD-05E7-A8382DE46E4C}"/>
              </a:ext>
            </a:extLst>
          </p:cNvPr>
          <p:cNvSpPr txBox="1"/>
          <p:nvPr/>
        </p:nvSpPr>
        <p:spPr>
          <a:xfrm>
            <a:off x="720000" y="1080000"/>
            <a:ext cx="10800000" cy="2793842"/>
          </a:xfrm>
          <a:prstGeom prst="rect">
            <a:avLst/>
          </a:prstGeom>
          <a:noFill/>
        </p:spPr>
        <p:txBody>
          <a:bodyPr wrap="square" rtlCol="0">
            <a:spAutoFit/>
          </a:bodyPr>
          <a:lstStyle/>
          <a:p>
            <a:pPr>
              <a:lnSpc>
                <a:spcPct val="150000"/>
              </a:lnSpc>
            </a:pPr>
            <a:r>
              <a:rPr lang="vi-VN" sz="2400" b="1" dirty="0"/>
              <a:t>Nghiệp vụ chính</a:t>
            </a:r>
          </a:p>
          <a:p>
            <a:pPr marL="457200" indent="-457200">
              <a:lnSpc>
                <a:spcPct val="150000"/>
              </a:lnSpc>
              <a:buFont typeface="+mj-lt"/>
              <a:buAutoNum type="arabicParenR" startAt="3"/>
            </a:pPr>
            <a:r>
              <a:rPr lang="vi-VN" sz="2400" b="1" dirty="0" err="1"/>
              <a:t>Admin</a:t>
            </a:r>
            <a:r>
              <a:rPr lang="vi-VN" sz="2400" b="1" dirty="0"/>
              <a:t>:</a:t>
            </a:r>
            <a:endParaRPr lang="vi-VN" sz="2400" dirty="0"/>
          </a:p>
          <a:p>
            <a:pPr marL="800100" lvl="1" indent="-342900">
              <a:lnSpc>
                <a:spcPct val="150000"/>
              </a:lnSpc>
              <a:buFont typeface="Arial" panose="020B0604020202020204" pitchFamily="34" charset="0"/>
              <a:buChar char="-"/>
            </a:pPr>
            <a:r>
              <a:rPr lang="vi-VN" sz="2400" dirty="0"/>
              <a:t>Quản lý người dùng và tổ chức</a:t>
            </a:r>
          </a:p>
          <a:p>
            <a:pPr marL="800100" lvl="1" indent="-342900">
              <a:lnSpc>
                <a:spcPct val="150000"/>
              </a:lnSpc>
              <a:buFont typeface="Arial" panose="020B0604020202020204" pitchFamily="34" charset="0"/>
              <a:buChar char="-"/>
            </a:pPr>
            <a:r>
              <a:rPr lang="vi-VN" sz="2400" dirty="0"/>
              <a:t>Kiểm duyệt hoạt động</a:t>
            </a:r>
          </a:p>
          <a:p>
            <a:pPr marL="800100" lvl="1" indent="-342900">
              <a:lnSpc>
                <a:spcPct val="150000"/>
              </a:lnSpc>
              <a:buFont typeface="Arial" panose="020B0604020202020204" pitchFamily="34" charset="0"/>
              <a:buChar char="-"/>
            </a:pPr>
            <a:r>
              <a:rPr lang="vi-VN" sz="2400" dirty="0"/>
              <a:t>Giám sát toàn hệ thống</a:t>
            </a:r>
          </a:p>
        </p:txBody>
      </p:sp>
    </p:spTree>
    <p:extLst>
      <p:ext uri="{BB962C8B-B14F-4D97-AF65-F5344CB8AC3E}">
        <p14:creationId xmlns:p14="http://schemas.microsoft.com/office/powerpoint/2010/main" val="2839859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55FCF-C05F-5210-4760-F992D0CCE540}"/>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DFFF0648-4E1C-04FA-B4FA-037B687BC1AD}"/>
              </a:ext>
            </a:extLst>
          </p:cNvPr>
          <p:cNvSpPr txBox="1"/>
          <p:nvPr/>
        </p:nvSpPr>
        <p:spPr>
          <a:xfrm>
            <a:off x="900000" y="252000"/>
            <a:ext cx="7593760" cy="523220"/>
          </a:xfrm>
          <a:prstGeom prst="rect">
            <a:avLst/>
          </a:prstGeom>
          <a:noFill/>
        </p:spPr>
        <p:txBody>
          <a:bodyPr wrap="square" rtlCol="0">
            <a:spAutoFit/>
          </a:bodyPr>
          <a:lstStyle/>
          <a:p>
            <a:pPr marL="399600" indent="-540000">
              <a:buFont typeface="+mj-lt"/>
              <a:buAutoNum type="romanUcPeriod" startAt="4"/>
            </a:pPr>
            <a:r>
              <a:rPr lang="vi-VN" sz="2800" b="1" dirty="0">
                <a:solidFill>
                  <a:srgbClr val="002060"/>
                </a:solidFill>
                <a:latin typeface="Arial" panose="020B0604020202020204" pitchFamily="34" charset="0"/>
                <a:cs typeface="Arial" panose="020B0604020202020204" pitchFamily="34" charset="0"/>
              </a:rPr>
              <a:t>CÔNG NGHỆ SỬ DỤNG</a:t>
            </a:r>
          </a:p>
        </p:txBody>
      </p:sp>
      <p:sp>
        <p:nvSpPr>
          <p:cNvPr id="8" name="Hộp Văn bản 7">
            <a:extLst>
              <a:ext uri="{FF2B5EF4-FFF2-40B4-BE49-F238E27FC236}">
                <a16:creationId xmlns:a16="http://schemas.microsoft.com/office/drawing/2014/main" id="{766BB336-8B21-4605-BD71-028BDF144420}"/>
              </a:ext>
            </a:extLst>
          </p:cNvPr>
          <p:cNvSpPr txBox="1"/>
          <p:nvPr/>
        </p:nvSpPr>
        <p:spPr>
          <a:xfrm>
            <a:off x="720000" y="1080000"/>
            <a:ext cx="10800000" cy="3901837"/>
          </a:xfrm>
          <a:prstGeom prst="rect">
            <a:avLst/>
          </a:prstGeom>
          <a:noFill/>
        </p:spPr>
        <p:txBody>
          <a:bodyPr wrap="square" rtlCol="0">
            <a:spAutoFit/>
          </a:bodyPr>
          <a:lstStyle/>
          <a:p>
            <a:pPr>
              <a:lnSpc>
                <a:spcPct val="150000"/>
              </a:lnSpc>
            </a:pPr>
            <a:r>
              <a:rPr lang="vi-VN" sz="2400" b="1" dirty="0" err="1"/>
              <a:t>Frontend</a:t>
            </a:r>
            <a:endParaRPr lang="vi-VN" sz="2400" b="1" dirty="0"/>
          </a:p>
          <a:p>
            <a:pPr marL="800100" lvl="1" indent="-342900">
              <a:lnSpc>
                <a:spcPct val="150000"/>
              </a:lnSpc>
              <a:buFont typeface="Arial" panose="020B0604020202020204" pitchFamily="34" charset="0"/>
              <a:buChar char="•"/>
            </a:pPr>
            <a:r>
              <a:rPr lang="vi-VN" sz="2400" b="1" dirty="0" err="1"/>
              <a:t>React</a:t>
            </a:r>
            <a:r>
              <a:rPr lang="vi-VN" sz="2400" dirty="0"/>
              <a:t>: xây dựng giao diện người dùng</a:t>
            </a:r>
          </a:p>
          <a:p>
            <a:pPr marL="800100" lvl="1" indent="-342900">
              <a:lnSpc>
                <a:spcPct val="150000"/>
              </a:lnSpc>
              <a:buFont typeface="Arial" panose="020B0604020202020204" pitchFamily="34" charset="0"/>
              <a:buChar char="•"/>
            </a:pPr>
            <a:r>
              <a:rPr lang="vi-VN" sz="2400" b="1" dirty="0" err="1"/>
              <a:t>Vite</a:t>
            </a:r>
            <a:r>
              <a:rPr lang="vi-VN" sz="2400" dirty="0"/>
              <a:t>: tăng tốc độ phát triển</a:t>
            </a:r>
          </a:p>
          <a:p>
            <a:pPr marL="800100" lvl="1" indent="-342900">
              <a:lnSpc>
                <a:spcPct val="150000"/>
              </a:lnSpc>
              <a:buFont typeface="Arial" panose="020B0604020202020204" pitchFamily="34" charset="0"/>
              <a:buChar char="•"/>
            </a:pPr>
            <a:r>
              <a:rPr lang="vi-VN" sz="2400" b="1" dirty="0" err="1"/>
              <a:t>Tailwind</a:t>
            </a:r>
            <a:r>
              <a:rPr lang="vi-VN" sz="2400" b="1" dirty="0"/>
              <a:t> CSS</a:t>
            </a:r>
            <a:r>
              <a:rPr lang="vi-VN" sz="2400" dirty="0"/>
              <a:t>: thiết kế giao diện linh hoạt</a:t>
            </a:r>
          </a:p>
          <a:p>
            <a:pPr>
              <a:lnSpc>
                <a:spcPct val="150000"/>
              </a:lnSpc>
            </a:pPr>
            <a:r>
              <a:rPr lang="vi-VN" sz="2400" b="1" dirty="0" err="1"/>
              <a:t>Backend</a:t>
            </a:r>
            <a:endParaRPr lang="vi-VN" sz="2400" b="1" dirty="0"/>
          </a:p>
          <a:p>
            <a:pPr marL="800100" lvl="1" indent="-342900">
              <a:lnSpc>
                <a:spcPct val="150000"/>
              </a:lnSpc>
              <a:buFont typeface="Arial" panose="020B0604020202020204" pitchFamily="34" charset="0"/>
              <a:buChar char="•"/>
            </a:pPr>
            <a:r>
              <a:rPr lang="vi-VN" sz="2400" b="1" dirty="0"/>
              <a:t>Node.js</a:t>
            </a:r>
            <a:r>
              <a:rPr lang="vi-VN" sz="2400" dirty="0"/>
              <a:t>: môi trường chạy </a:t>
            </a:r>
            <a:r>
              <a:rPr lang="vi-VN" sz="2400" dirty="0" err="1"/>
              <a:t>JavaScript</a:t>
            </a:r>
            <a:r>
              <a:rPr lang="vi-VN" sz="2400" dirty="0"/>
              <a:t> phía </a:t>
            </a:r>
            <a:r>
              <a:rPr lang="vi-VN" sz="2400" dirty="0" err="1"/>
              <a:t>server</a:t>
            </a:r>
            <a:endParaRPr lang="vi-VN" sz="2400" dirty="0"/>
          </a:p>
          <a:p>
            <a:pPr marL="800100" lvl="1" indent="-342900">
              <a:lnSpc>
                <a:spcPct val="150000"/>
              </a:lnSpc>
              <a:buFont typeface="Arial" panose="020B0604020202020204" pitchFamily="34" charset="0"/>
              <a:buChar char="•"/>
            </a:pPr>
            <a:r>
              <a:rPr lang="vi-VN" sz="2400" b="1" dirty="0"/>
              <a:t>Express</a:t>
            </a:r>
            <a:r>
              <a:rPr lang="vi-VN" sz="2400" dirty="0"/>
              <a:t>: xây dựng API </a:t>
            </a:r>
            <a:r>
              <a:rPr lang="vi-VN" sz="2400" dirty="0" err="1"/>
              <a:t>RESTful</a:t>
            </a:r>
            <a:endParaRPr lang="vi-VN" sz="2400" dirty="0"/>
          </a:p>
        </p:txBody>
      </p:sp>
    </p:spTree>
    <p:extLst>
      <p:ext uri="{BB962C8B-B14F-4D97-AF65-F5344CB8AC3E}">
        <p14:creationId xmlns:p14="http://schemas.microsoft.com/office/powerpoint/2010/main" val="31566515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26F9C-BC28-ABBB-5872-BB28CDE58495}"/>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A66F6138-1BD1-C63B-CD6E-D8745D9684B3}"/>
              </a:ext>
            </a:extLst>
          </p:cNvPr>
          <p:cNvSpPr txBox="1"/>
          <p:nvPr/>
        </p:nvSpPr>
        <p:spPr>
          <a:xfrm>
            <a:off x="900000" y="252000"/>
            <a:ext cx="7593760" cy="523220"/>
          </a:xfrm>
          <a:prstGeom prst="rect">
            <a:avLst/>
          </a:prstGeom>
          <a:noFill/>
        </p:spPr>
        <p:txBody>
          <a:bodyPr wrap="square" rtlCol="0">
            <a:spAutoFit/>
          </a:bodyPr>
          <a:lstStyle/>
          <a:p>
            <a:pPr marL="399600" indent="-540000">
              <a:buFont typeface="+mj-lt"/>
              <a:buAutoNum type="romanUcPeriod" startAt="4"/>
            </a:pPr>
            <a:r>
              <a:rPr lang="vi-VN" sz="2800" b="1" dirty="0">
                <a:solidFill>
                  <a:srgbClr val="002060"/>
                </a:solidFill>
                <a:latin typeface="Arial" panose="020B0604020202020204" pitchFamily="34" charset="0"/>
                <a:cs typeface="Arial" panose="020B0604020202020204" pitchFamily="34" charset="0"/>
              </a:rPr>
              <a:t>CÔNG NGHỆ SỬ DỤNG</a:t>
            </a:r>
          </a:p>
        </p:txBody>
      </p:sp>
      <p:sp>
        <p:nvSpPr>
          <p:cNvPr id="8" name="Hộp Văn bản 7">
            <a:extLst>
              <a:ext uri="{FF2B5EF4-FFF2-40B4-BE49-F238E27FC236}">
                <a16:creationId xmlns:a16="http://schemas.microsoft.com/office/drawing/2014/main" id="{B8D9B653-A818-7863-2540-5C997E4EE4C9}"/>
              </a:ext>
            </a:extLst>
          </p:cNvPr>
          <p:cNvSpPr txBox="1"/>
          <p:nvPr/>
        </p:nvSpPr>
        <p:spPr>
          <a:xfrm>
            <a:off x="720000" y="1080000"/>
            <a:ext cx="10800000" cy="3347840"/>
          </a:xfrm>
          <a:prstGeom prst="rect">
            <a:avLst/>
          </a:prstGeom>
          <a:noFill/>
        </p:spPr>
        <p:txBody>
          <a:bodyPr wrap="square" rtlCol="0">
            <a:spAutoFit/>
          </a:bodyPr>
          <a:lstStyle/>
          <a:p>
            <a:pPr>
              <a:lnSpc>
                <a:spcPct val="150000"/>
              </a:lnSpc>
            </a:pPr>
            <a:r>
              <a:rPr lang="vi-VN" sz="2400" b="1" dirty="0"/>
              <a:t>Cơ sở dữ liệu</a:t>
            </a:r>
          </a:p>
          <a:p>
            <a:pPr marL="800100" lvl="1" indent="-342900">
              <a:lnSpc>
                <a:spcPct val="150000"/>
              </a:lnSpc>
              <a:buFont typeface="Arial" panose="020B0604020202020204" pitchFamily="34" charset="0"/>
              <a:buChar char="•"/>
            </a:pPr>
            <a:r>
              <a:rPr lang="vi-VN" sz="2400" b="1" dirty="0" err="1"/>
              <a:t>PostgreSQL</a:t>
            </a:r>
            <a:r>
              <a:rPr lang="vi-VN" sz="2400" dirty="0"/>
              <a:t>: hệ quản trị CSDL quan hệ</a:t>
            </a:r>
          </a:p>
          <a:p>
            <a:pPr marL="800100" lvl="1" indent="-342900">
              <a:lnSpc>
                <a:spcPct val="150000"/>
              </a:lnSpc>
              <a:buFont typeface="Arial" panose="020B0604020202020204" pitchFamily="34" charset="0"/>
              <a:buChar char="•"/>
            </a:pPr>
            <a:r>
              <a:rPr lang="vi-VN" sz="2400" b="1" dirty="0" err="1"/>
              <a:t>Prisma</a:t>
            </a:r>
            <a:r>
              <a:rPr lang="vi-VN" sz="2400" b="1" dirty="0"/>
              <a:t> ORM</a:t>
            </a:r>
            <a:r>
              <a:rPr lang="vi-VN" sz="2400" dirty="0"/>
              <a:t>: quản lý và truy vấn dữ liệu</a:t>
            </a:r>
          </a:p>
          <a:p>
            <a:pPr>
              <a:lnSpc>
                <a:spcPct val="150000"/>
              </a:lnSpc>
            </a:pPr>
            <a:r>
              <a:rPr lang="vi-VN" sz="2400" b="1" dirty="0"/>
              <a:t>Bảo mật</a:t>
            </a:r>
          </a:p>
          <a:p>
            <a:pPr marL="800100" lvl="1" indent="-342900">
              <a:lnSpc>
                <a:spcPct val="150000"/>
              </a:lnSpc>
              <a:buFont typeface="Arial" panose="020B0604020202020204" pitchFamily="34" charset="0"/>
              <a:buChar char="•"/>
            </a:pPr>
            <a:r>
              <a:rPr lang="vi-VN" sz="2400" b="1" dirty="0"/>
              <a:t>JWT</a:t>
            </a:r>
            <a:r>
              <a:rPr lang="vi-VN" sz="2400" dirty="0"/>
              <a:t>: xác thực và phân quyền</a:t>
            </a:r>
          </a:p>
          <a:p>
            <a:pPr marL="800100" lvl="1" indent="-342900">
              <a:lnSpc>
                <a:spcPct val="150000"/>
              </a:lnSpc>
              <a:buFont typeface="Arial" panose="020B0604020202020204" pitchFamily="34" charset="0"/>
              <a:buChar char="•"/>
            </a:pPr>
            <a:r>
              <a:rPr lang="vi-VN" sz="2400" b="1" dirty="0" err="1"/>
              <a:t>bcrypt</a:t>
            </a:r>
            <a:r>
              <a:rPr lang="vi-VN" sz="2400" dirty="0"/>
              <a:t>: mã hóa mật khẩu</a:t>
            </a:r>
          </a:p>
        </p:txBody>
      </p:sp>
    </p:spTree>
    <p:extLst>
      <p:ext uri="{BB962C8B-B14F-4D97-AF65-F5344CB8AC3E}">
        <p14:creationId xmlns:p14="http://schemas.microsoft.com/office/powerpoint/2010/main" val="14761146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DD6F1-7ECE-A9D4-D5DA-E5A621FD8590}"/>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20392EC3-9517-AC08-A2F5-2DE3782FE308}"/>
              </a:ext>
            </a:extLst>
          </p:cNvPr>
          <p:cNvSpPr txBox="1"/>
          <p:nvPr/>
        </p:nvSpPr>
        <p:spPr>
          <a:xfrm>
            <a:off x="900000" y="252000"/>
            <a:ext cx="7593760" cy="523220"/>
          </a:xfrm>
          <a:prstGeom prst="rect">
            <a:avLst/>
          </a:prstGeom>
          <a:noFill/>
        </p:spPr>
        <p:txBody>
          <a:bodyPr wrap="square" rtlCol="0">
            <a:spAutoFit/>
          </a:bodyPr>
          <a:lstStyle/>
          <a:p>
            <a:pPr marL="399600" indent="-540000">
              <a:buFont typeface="+mj-lt"/>
              <a:buAutoNum type="romanUcPeriod" startAt="5"/>
            </a:pPr>
            <a:r>
              <a:rPr lang="vi-VN" sz="2800" b="1" dirty="0">
                <a:solidFill>
                  <a:srgbClr val="002060"/>
                </a:solidFill>
                <a:latin typeface="Arial" panose="020B0604020202020204" pitchFamily="34" charset="0"/>
                <a:cs typeface="Arial" panose="020B0604020202020204" pitchFamily="34" charset="0"/>
              </a:rPr>
              <a:t>PHÂN TÍCH VÀ THIẾT KẾ HỆ THỐNG</a:t>
            </a:r>
          </a:p>
        </p:txBody>
      </p:sp>
      <p:sp>
        <p:nvSpPr>
          <p:cNvPr id="8" name="Hộp Văn bản 7">
            <a:extLst>
              <a:ext uri="{FF2B5EF4-FFF2-40B4-BE49-F238E27FC236}">
                <a16:creationId xmlns:a16="http://schemas.microsoft.com/office/drawing/2014/main" id="{AB72C507-46DF-879A-93D7-B559C809AE5A}"/>
              </a:ext>
            </a:extLst>
          </p:cNvPr>
          <p:cNvSpPr txBox="1"/>
          <p:nvPr/>
        </p:nvSpPr>
        <p:spPr>
          <a:xfrm>
            <a:off x="720000" y="1080000"/>
            <a:ext cx="10800000" cy="5009833"/>
          </a:xfrm>
          <a:prstGeom prst="rect">
            <a:avLst/>
          </a:prstGeom>
          <a:noFill/>
        </p:spPr>
        <p:txBody>
          <a:bodyPr wrap="square" rtlCol="0">
            <a:spAutoFit/>
          </a:bodyPr>
          <a:lstStyle/>
          <a:p>
            <a:pPr>
              <a:lnSpc>
                <a:spcPct val="150000"/>
              </a:lnSpc>
            </a:pPr>
            <a:r>
              <a:rPr lang="vi-VN" sz="2400" b="1" dirty="0"/>
              <a:t>Phân tích hệ thống</a:t>
            </a:r>
          </a:p>
          <a:p>
            <a:pPr marL="800100" lvl="1" indent="-342900">
              <a:lnSpc>
                <a:spcPct val="150000"/>
              </a:lnSpc>
              <a:buFont typeface="Arial" panose="020B0604020202020204" pitchFamily="34" charset="0"/>
              <a:buChar char="•"/>
            </a:pPr>
            <a:r>
              <a:rPr lang="vi-VN" sz="2400" dirty="0"/>
              <a:t>Xác định các nhóm người dùng và yêu cầu chức năng</a:t>
            </a:r>
          </a:p>
          <a:p>
            <a:pPr marL="800100" lvl="1" indent="-342900">
              <a:lnSpc>
                <a:spcPct val="150000"/>
              </a:lnSpc>
              <a:buFont typeface="Arial" panose="020B0604020202020204" pitchFamily="34" charset="0"/>
              <a:buChar char="•"/>
            </a:pPr>
            <a:r>
              <a:rPr lang="vi-VN" sz="2400" dirty="0"/>
              <a:t>Phân tích nghiệp vụ quản lý tình nguyện viên và hoạt động</a:t>
            </a:r>
          </a:p>
          <a:p>
            <a:pPr>
              <a:lnSpc>
                <a:spcPct val="150000"/>
              </a:lnSpc>
            </a:pPr>
            <a:r>
              <a:rPr lang="vi-VN" sz="2400" b="1" dirty="0"/>
              <a:t>Thiết kế hệ thống</a:t>
            </a:r>
          </a:p>
          <a:p>
            <a:pPr marL="800100" lvl="1" indent="-342900">
              <a:lnSpc>
                <a:spcPct val="150000"/>
              </a:lnSpc>
              <a:buFont typeface="Arial" panose="020B0604020202020204" pitchFamily="34" charset="0"/>
              <a:buChar char="•"/>
            </a:pPr>
            <a:r>
              <a:rPr lang="vi-VN" sz="2400" dirty="0"/>
              <a:t>Thiết kế </a:t>
            </a:r>
            <a:r>
              <a:rPr lang="vi-VN" sz="2400" dirty="0" err="1"/>
              <a:t>Use</a:t>
            </a:r>
            <a:r>
              <a:rPr lang="vi-VN" sz="2400" dirty="0"/>
              <a:t> </a:t>
            </a:r>
            <a:r>
              <a:rPr lang="vi-VN" sz="2400" dirty="0" err="1"/>
              <a:t>Case</a:t>
            </a:r>
            <a:r>
              <a:rPr lang="vi-VN" sz="2400" dirty="0"/>
              <a:t> </a:t>
            </a:r>
            <a:r>
              <a:rPr lang="vi-VN" sz="2400" dirty="0" err="1"/>
              <a:t>Diagram</a:t>
            </a:r>
            <a:endParaRPr lang="vi-VN" sz="2400" dirty="0"/>
          </a:p>
          <a:p>
            <a:pPr marL="800100" lvl="1" indent="-342900">
              <a:lnSpc>
                <a:spcPct val="150000"/>
              </a:lnSpc>
              <a:buFont typeface="Arial" panose="020B0604020202020204" pitchFamily="34" charset="0"/>
              <a:buChar char="•"/>
            </a:pPr>
            <a:r>
              <a:rPr lang="vi-VN" sz="2400" dirty="0"/>
              <a:t>Thiết kế CSDL quan hệ:</a:t>
            </a:r>
          </a:p>
          <a:p>
            <a:pPr marL="1257300" lvl="2" indent="-342900">
              <a:lnSpc>
                <a:spcPct val="150000"/>
              </a:lnSpc>
              <a:buFont typeface="Arial" panose="020B0604020202020204" pitchFamily="34" charset="0"/>
              <a:buChar char="-"/>
            </a:pPr>
            <a:r>
              <a:rPr lang="vi-VN" sz="2400" dirty="0"/>
              <a:t>ERD</a:t>
            </a:r>
          </a:p>
          <a:p>
            <a:pPr marL="1257300" lvl="2" indent="-342900">
              <a:lnSpc>
                <a:spcPct val="150000"/>
              </a:lnSpc>
              <a:buFont typeface="Arial" panose="020B0604020202020204" pitchFamily="34" charset="0"/>
              <a:buChar char="-"/>
            </a:pPr>
            <a:r>
              <a:rPr lang="vi-VN" sz="2400" dirty="0"/>
              <a:t>Mô hình dữ liệu vật lý</a:t>
            </a:r>
          </a:p>
          <a:p>
            <a:pPr marL="800100" lvl="1" indent="-342900">
              <a:lnSpc>
                <a:spcPct val="150000"/>
              </a:lnSpc>
              <a:buFont typeface="Arial" panose="020B0604020202020204" pitchFamily="34" charset="0"/>
              <a:buChar char="•"/>
            </a:pPr>
            <a:r>
              <a:rPr lang="vi-VN" sz="2400" dirty="0"/>
              <a:t>Thiết kế DFD mức 0, 1, 2</a:t>
            </a:r>
          </a:p>
        </p:txBody>
      </p:sp>
    </p:spTree>
    <p:extLst>
      <p:ext uri="{BB962C8B-B14F-4D97-AF65-F5344CB8AC3E}">
        <p14:creationId xmlns:p14="http://schemas.microsoft.com/office/powerpoint/2010/main" val="10234436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Hình ảnh 3">
            <a:extLst>
              <a:ext uri="{FF2B5EF4-FFF2-40B4-BE49-F238E27FC236}">
                <a16:creationId xmlns:a16="http://schemas.microsoft.com/office/drawing/2014/main" id="{AD615451-97FC-9DDD-9519-3205A8F58A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8674" y="0"/>
            <a:ext cx="7440654" cy="6858000"/>
          </a:xfrm>
          <a:prstGeom prst="rect">
            <a:avLst/>
          </a:prstGeom>
        </p:spPr>
      </p:pic>
      <p:sp>
        <p:nvSpPr>
          <p:cNvPr id="2" name="Hộp Văn bản 1">
            <a:extLst>
              <a:ext uri="{FF2B5EF4-FFF2-40B4-BE49-F238E27FC236}">
                <a16:creationId xmlns:a16="http://schemas.microsoft.com/office/drawing/2014/main" id="{EFA80D0D-0403-54AC-F3FD-539BA40300B2}"/>
              </a:ext>
            </a:extLst>
          </p:cNvPr>
          <p:cNvSpPr txBox="1"/>
          <p:nvPr/>
        </p:nvSpPr>
        <p:spPr>
          <a:xfrm>
            <a:off x="0" y="0"/>
            <a:ext cx="2542684" cy="461665"/>
          </a:xfrm>
          <a:prstGeom prst="rect">
            <a:avLst/>
          </a:prstGeom>
          <a:noFill/>
        </p:spPr>
        <p:txBody>
          <a:bodyPr wrap="none" rtlCol="0">
            <a:spAutoFit/>
          </a:bodyPr>
          <a:lstStyle/>
          <a:p>
            <a:r>
              <a:rPr lang="vi-VN" sz="2400" b="1" dirty="0"/>
              <a:t>Sơ đồ </a:t>
            </a:r>
            <a:r>
              <a:rPr lang="vi-VN" sz="2400" b="1" dirty="0" err="1"/>
              <a:t>Use</a:t>
            </a:r>
            <a:r>
              <a:rPr lang="vi-VN" sz="2400" b="1" dirty="0"/>
              <a:t> </a:t>
            </a:r>
            <a:r>
              <a:rPr lang="vi-VN" sz="2400" b="1" dirty="0" err="1"/>
              <a:t>Case</a:t>
            </a:r>
            <a:endParaRPr lang="vi-VN" sz="2400" b="1" dirty="0"/>
          </a:p>
        </p:txBody>
      </p:sp>
    </p:spTree>
    <p:extLst>
      <p:ext uri="{BB962C8B-B14F-4D97-AF65-F5344CB8AC3E}">
        <p14:creationId xmlns:p14="http://schemas.microsoft.com/office/powerpoint/2010/main" val="3496865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89C938-C743-38AC-5A54-F44A82A159FC}"/>
            </a:ext>
          </a:extLst>
        </p:cNvPr>
        <p:cNvGrpSpPr/>
        <p:nvPr/>
      </p:nvGrpSpPr>
      <p:grpSpPr>
        <a:xfrm>
          <a:off x="0" y="0"/>
          <a:ext cx="0" cy="0"/>
          <a:chOff x="0" y="0"/>
          <a:chExt cx="0" cy="0"/>
        </a:xfrm>
      </p:grpSpPr>
      <p:pic>
        <p:nvPicPr>
          <p:cNvPr id="6" name="Hình ảnh 5">
            <a:extLst>
              <a:ext uri="{FF2B5EF4-FFF2-40B4-BE49-F238E27FC236}">
                <a16:creationId xmlns:a16="http://schemas.microsoft.com/office/drawing/2014/main" id="{1643384B-DD07-4570-FB3D-6878EB7145A4}"/>
              </a:ext>
            </a:extLst>
          </p:cNvPr>
          <p:cNvPicPr>
            <a:picLocks noChangeAspect="1"/>
          </p:cNvPicPr>
          <p:nvPr/>
        </p:nvPicPr>
        <p:blipFill>
          <a:blip r:embed="rId2"/>
          <a:stretch>
            <a:fillRect/>
          </a:stretch>
        </p:blipFill>
        <p:spPr>
          <a:xfrm>
            <a:off x="0" y="732763"/>
            <a:ext cx="12192000" cy="5392474"/>
          </a:xfrm>
          <a:prstGeom prst="rect">
            <a:avLst/>
          </a:prstGeom>
        </p:spPr>
      </p:pic>
      <p:sp>
        <p:nvSpPr>
          <p:cNvPr id="2" name="Hộp Văn bản 1">
            <a:extLst>
              <a:ext uri="{FF2B5EF4-FFF2-40B4-BE49-F238E27FC236}">
                <a16:creationId xmlns:a16="http://schemas.microsoft.com/office/drawing/2014/main" id="{9C375D20-87AC-DC2D-C7A7-254081A05AC7}"/>
              </a:ext>
            </a:extLst>
          </p:cNvPr>
          <p:cNvSpPr txBox="1"/>
          <p:nvPr/>
        </p:nvSpPr>
        <p:spPr>
          <a:xfrm>
            <a:off x="0" y="0"/>
            <a:ext cx="2097049" cy="461665"/>
          </a:xfrm>
          <a:prstGeom prst="rect">
            <a:avLst/>
          </a:prstGeom>
          <a:noFill/>
        </p:spPr>
        <p:txBody>
          <a:bodyPr wrap="none" rtlCol="0">
            <a:spAutoFit/>
          </a:bodyPr>
          <a:lstStyle/>
          <a:p>
            <a:r>
              <a:rPr lang="vi-VN" sz="2400" b="1" dirty="0"/>
              <a:t>Mô hình ERD</a:t>
            </a:r>
          </a:p>
        </p:txBody>
      </p:sp>
    </p:spTree>
    <p:extLst>
      <p:ext uri="{BB962C8B-B14F-4D97-AF65-F5344CB8AC3E}">
        <p14:creationId xmlns:p14="http://schemas.microsoft.com/office/powerpoint/2010/main" val="3280589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330560-A6A0-DC66-E48B-6F8122502E3C}"/>
            </a:ext>
          </a:extLst>
        </p:cNvPr>
        <p:cNvGrpSpPr/>
        <p:nvPr/>
      </p:nvGrpSpPr>
      <p:grpSpPr>
        <a:xfrm>
          <a:off x="0" y="0"/>
          <a:ext cx="0" cy="0"/>
          <a:chOff x="0" y="0"/>
          <a:chExt cx="0" cy="0"/>
        </a:xfrm>
      </p:grpSpPr>
      <p:pic>
        <p:nvPicPr>
          <p:cNvPr id="9" name="Hình ảnh 8">
            <a:extLst>
              <a:ext uri="{FF2B5EF4-FFF2-40B4-BE49-F238E27FC236}">
                <a16:creationId xmlns:a16="http://schemas.microsoft.com/office/drawing/2014/main" id="{DA538085-301C-86E7-4677-B2ABD268CED6}"/>
              </a:ext>
            </a:extLst>
          </p:cNvPr>
          <p:cNvPicPr>
            <a:picLocks noChangeAspect="1"/>
          </p:cNvPicPr>
          <p:nvPr/>
        </p:nvPicPr>
        <p:blipFill>
          <a:blip r:embed="rId2"/>
          <a:stretch>
            <a:fillRect/>
          </a:stretch>
        </p:blipFill>
        <p:spPr>
          <a:xfrm>
            <a:off x="0" y="59161"/>
            <a:ext cx="12192000" cy="6739677"/>
          </a:xfrm>
          <a:prstGeom prst="rect">
            <a:avLst/>
          </a:prstGeom>
        </p:spPr>
      </p:pic>
      <p:sp>
        <p:nvSpPr>
          <p:cNvPr id="2" name="Hộp Văn bản 1">
            <a:extLst>
              <a:ext uri="{FF2B5EF4-FFF2-40B4-BE49-F238E27FC236}">
                <a16:creationId xmlns:a16="http://schemas.microsoft.com/office/drawing/2014/main" id="{F354F2EE-B10A-2A54-65CA-CAED171FBEA7}"/>
              </a:ext>
            </a:extLst>
          </p:cNvPr>
          <p:cNvSpPr txBox="1"/>
          <p:nvPr/>
        </p:nvSpPr>
        <p:spPr>
          <a:xfrm>
            <a:off x="8849418" y="0"/>
            <a:ext cx="3342582" cy="461665"/>
          </a:xfrm>
          <a:prstGeom prst="rect">
            <a:avLst/>
          </a:prstGeom>
          <a:noFill/>
        </p:spPr>
        <p:txBody>
          <a:bodyPr wrap="none" rtlCol="0">
            <a:spAutoFit/>
          </a:bodyPr>
          <a:lstStyle/>
          <a:p>
            <a:r>
              <a:rPr lang="vi-VN" sz="2400" b="1"/>
              <a:t>Mô hình dữ liệu vật lý</a:t>
            </a:r>
            <a:endParaRPr lang="vi-VN" sz="2400" b="1" dirty="0"/>
          </a:p>
        </p:txBody>
      </p:sp>
    </p:spTree>
    <p:extLst>
      <p:ext uri="{BB962C8B-B14F-4D97-AF65-F5344CB8AC3E}">
        <p14:creationId xmlns:p14="http://schemas.microsoft.com/office/powerpoint/2010/main" val="2706431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30C6D5-E1AF-F2EC-2449-DB94B50272A1}"/>
            </a:ext>
          </a:extLst>
        </p:cNvPr>
        <p:cNvGrpSpPr/>
        <p:nvPr/>
      </p:nvGrpSpPr>
      <p:grpSpPr>
        <a:xfrm>
          <a:off x="0" y="0"/>
          <a:ext cx="0" cy="0"/>
          <a:chOff x="0" y="0"/>
          <a:chExt cx="0" cy="0"/>
        </a:xfrm>
      </p:grpSpPr>
      <p:pic>
        <p:nvPicPr>
          <p:cNvPr id="6" name="Hình ảnh 5">
            <a:extLst>
              <a:ext uri="{FF2B5EF4-FFF2-40B4-BE49-F238E27FC236}">
                <a16:creationId xmlns:a16="http://schemas.microsoft.com/office/drawing/2014/main" id="{ECAD61C2-255A-CADE-343F-9848338B77F5}"/>
              </a:ext>
            </a:extLst>
          </p:cNvPr>
          <p:cNvPicPr>
            <a:picLocks noChangeAspect="1"/>
          </p:cNvPicPr>
          <p:nvPr/>
        </p:nvPicPr>
        <p:blipFill>
          <a:blip r:embed="rId2"/>
          <a:stretch>
            <a:fillRect/>
          </a:stretch>
        </p:blipFill>
        <p:spPr>
          <a:xfrm>
            <a:off x="345510" y="1512170"/>
            <a:ext cx="11500980" cy="3833660"/>
          </a:xfrm>
          <a:prstGeom prst="rect">
            <a:avLst/>
          </a:prstGeom>
        </p:spPr>
      </p:pic>
      <p:sp>
        <p:nvSpPr>
          <p:cNvPr id="9" name="Hộp Văn bản 8">
            <a:extLst>
              <a:ext uri="{FF2B5EF4-FFF2-40B4-BE49-F238E27FC236}">
                <a16:creationId xmlns:a16="http://schemas.microsoft.com/office/drawing/2014/main" id="{EE6DC5B1-4FAF-AE5F-31B4-61E8F307A9A8}"/>
              </a:ext>
            </a:extLst>
          </p:cNvPr>
          <p:cNvSpPr txBox="1"/>
          <p:nvPr/>
        </p:nvSpPr>
        <p:spPr>
          <a:xfrm>
            <a:off x="0" y="0"/>
            <a:ext cx="2797561" cy="461665"/>
          </a:xfrm>
          <a:prstGeom prst="rect">
            <a:avLst/>
          </a:prstGeom>
          <a:noFill/>
        </p:spPr>
        <p:txBody>
          <a:bodyPr wrap="none" rtlCol="0">
            <a:spAutoFit/>
          </a:bodyPr>
          <a:lstStyle/>
          <a:p>
            <a:r>
              <a:rPr lang="vi-VN" sz="2400" b="1" dirty="0"/>
              <a:t>Sơ đồ DFD mức 0</a:t>
            </a:r>
          </a:p>
        </p:txBody>
      </p:sp>
    </p:spTree>
    <p:extLst>
      <p:ext uri="{BB962C8B-B14F-4D97-AF65-F5344CB8AC3E}">
        <p14:creationId xmlns:p14="http://schemas.microsoft.com/office/powerpoint/2010/main" val="33920194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D51403-4682-577D-07B8-27AE30427580}"/>
            </a:ext>
          </a:extLst>
        </p:cNvPr>
        <p:cNvGrpSpPr/>
        <p:nvPr/>
      </p:nvGrpSpPr>
      <p:grpSpPr>
        <a:xfrm>
          <a:off x="0" y="0"/>
          <a:ext cx="0" cy="0"/>
          <a:chOff x="0" y="0"/>
          <a:chExt cx="0" cy="0"/>
        </a:xfrm>
      </p:grpSpPr>
      <p:pic>
        <p:nvPicPr>
          <p:cNvPr id="8" name="Hình ảnh 7">
            <a:extLst>
              <a:ext uri="{FF2B5EF4-FFF2-40B4-BE49-F238E27FC236}">
                <a16:creationId xmlns:a16="http://schemas.microsoft.com/office/drawing/2014/main" id="{E91C7BFC-281A-94AA-3604-3C20494135CC}"/>
              </a:ext>
            </a:extLst>
          </p:cNvPr>
          <p:cNvPicPr>
            <a:picLocks noChangeAspect="1"/>
          </p:cNvPicPr>
          <p:nvPr/>
        </p:nvPicPr>
        <p:blipFill>
          <a:blip r:embed="rId2"/>
          <a:stretch>
            <a:fillRect/>
          </a:stretch>
        </p:blipFill>
        <p:spPr>
          <a:xfrm>
            <a:off x="938212" y="230832"/>
            <a:ext cx="10315575" cy="6448425"/>
          </a:xfrm>
          <a:prstGeom prst="rect">
            <a:avLst/>
          </a:prstGeom>
        </p:spPr>
      </p:pic>
      <p:sp>
        <p:nvSpPr>
          <p:cNvPr id="4" name="Hộp Văn bản 3">
            <a:extLst>
              <a:ext uri="{FF2B5EF4-FFF2-40B4-BE49-F238E27FC236}">
                <a16:creationId xmlns:a16="http://schemas.microsoft.com/office/drawing/2014/main" id="{B4AC0931-509E-892D-E3AC-E231E065C468}"/>
              </a:ext>
            </a:extLst>
          </p:cNvPr>
          <p:cNvSpPr txBox="1"/>
          <p:nvPr/>
        </p:nvSpPr>
        <p:spPr>
          <a:xfrm>
            <a:off x="0" y="0"/>
            <a:ext cx="2797561" cy="461665"/>
          </a:xfrm>
          <a:prstGeom prst="rect">
            <a:avLst/>
          </a:prstGeom>
          <a:noFill/>
        </p:spPr>
        <p:txBody>
          <a:bodyPr wrap="none" rtlCol="0">
            <a:spAutoFit/>
          </a:bodyPr>
          <a:lstStyle/>
          <a:p>
            <a:r>
              <a:rPr lang="vi-VN" sz="2400" b="1" dirty="0"/>
              <a:t>Sơ đồ DFD mức 1</a:t>
            </a:r>
          </a:p>
        </p:txBody>
      </p:sp>
    </p:spTree>
    <p:extLst>
      <p:ext uri="{BB962C8B-B14F-4D97-AF65-F5344CB8AC3E}">
        <p14:creationId xmlns:p14="http://schemas.microsoft.com/office/powerpoint/2010/main" val="12455527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C1D9FF-4CBC-1C37-E40F-ABE800CD4124}"/>
            </a:ext>
          </a:extLst>
        </p:cNvPr>
        <p:cNvGrpSpPr/>
        <p:nvPr/>
      </p:nvGrpSpPr>
      <p:grpSpPr>
        <a:xfrm>
          <a:off x="0" y="0"/>
          <a:ext cx="0" cy="0"/>
          <a:chOff x="0" y="0"/>
          <a:chExt cx="0" cy="0"/>
        </a:xfrm>
      </p:grpSpPr>
      <p:pic>
        <p:nvPicPr>
          <p:cNvPr id="3" name="Hình ảnh 2">
            <a:extLst>
              <a:ext uri="{FF2B5EF4-FFF2-40B4-BE49-F238E27FC236}">
                <a16:creationId xmlns:a16="http://schemas.microsoft.com/office/drawing/2014/main" id="{A20C74D1-7F51-7200-6F5B-E488DF483E16}"/>
              </a:ext>
            </a:extLst>
          </p:cNvPr>
          <p:cNvPicPr>
            <a:picLocks noChangeAspect="1"/>
          </p:cNvPicPr>
          <p:nvPr/>
        </p:nvPicPr>
        <p:blipFill>
          <a:blip r:embed="rId2"/>
          <a:stretch>
            <a:fillRect/>
          </a:stretch>
        </p:blipFill>
        <p:spPr>
          <a:xfrm>
            <a:off x="2354672" y="363947"/>
            <a:ext cx="7482656" cy="6130106"/>
          </a:xfrm>
          <a:prstGeom prst="rect">
            <a:avLst/>
          </a:prstGeom>
        </p:spPr>
      </p:pic>
      <p:sp>
        <p:nvSpPr>
          <p:cNvPr id="2" name="Hộp Văn bản 1">
            <a:extLst>
              <a:ext uri="{FF2B5EF4-FFF2-40B4-BE49-F238E27FC236}">
                <a16:creationId xmlns:a16="http://schemas.microsoft.com/office/drawing/2014/main" id="{488FDF0C-C491-46BE-E297-C84914054B18}"/>
              </a:ext>
            </a:extLst>
          </p:cNvPr>
          <p:cNvSpPr txBox="1"/>
          <p:nvPr/>
        </p:nvSpPr>
        <p:spPr>
          <a:xfrm>
            <a:off x="0" y="0"/>
            <a:ext cx="2797561" cy="461665"/>
          </a:xfrm>
          <a:prstGeom prst="rect">
            <a:avLst/>
          </a:prstGeom>
          <a:noFill/>
        </p:spPr>
        <p:txBody>
          <a:bodyPr wrap="none" rtlCol="0">
            <a:spAutoFit/>
          </a:bodyPr>
          <a:lstStyle/>
          <a:p>
            <a:r>
              <a:rPr lang="vi-VN" sz="2400" b="1" dirty="0"/>
              <a:t>Sơ đồ DFD mức 2</a:t>
            </a:r>
          </a:p>
        </p:txBody>
      </p:sp>
    </p:spTree>
    <p:extLst>
      <p:ext uri="{BB962C8B-B14F-4D97-AF65-F5344CB8AC3E}">
        <p14:creationId xmlns:p14="http://schemas.microsoft.com/office/powerpoint/2010/main" val="3992243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00585-9DCF-3639-D20E-872665A88860}"/>
            </a:ext>
          </a:extLst>
        </p:cNvPr>
        <p:cNvGrpSpPr/>
        <p:nvPr/>
      </p:nvGrpSpPr>
      <p:grpSpPr>
        <a:xfrm>
          <a:off x="0" y="0"/>
          <a:ext cx="0" cy="0"/>
          <a:chOff x="0" y="0"/>
          <a:chExt cx="0" cy="0"/>
        </a:xfrm>
      </p:grpSpPr>
      <p:sp>
        <p:nvSpPr>
          <p:cNvPr id="5" name="Hộp Văn bản 4">
            <a:extLst>
              <a:ext uri="{FF2B5EF4-FFF2-40B4-BE49-F238E27FC236}">
                <a16:creationId xmlns:a16="http://schemas.microsoft.com/office/drawing/2014/main" id="{38159C19-5358-B2F4-35DD-859D4551B2A5}"/>
              </a:ext>
            </a:extLst>
          </p:cNvPr>
          <p:cNvSpPr txBox="1"/>
          <p:nvPr/>
        </p:nvSpPr>
        <p:spPr>
          <a:xfrm>
            <a:off x="720000" y="1080000"/>
            <a:ext cx="10800000" cy="556383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vi-VN" sz="2400" dirty="0"/>
              <a:t>Hoàn thành hệ thống </a:t>
            </a:r>
            <a:r>
              <a:rPr lang="vi-VN" sz="2400" dirty="0" err="1"/>
              <a:t>web</a:t>
            </a:r>
            <a:r>
              <a:rPr lang="vi-VN" sz="2400" dirty="0"/>
              <a:t> quản lý và hỗ trợ tình nguyện viên</a:t>
            </a:r>
          </a:p>
          <a:p>
            <a:pPr marL="342900" indent="-342900">
              <a:lnSpc>
                <a:spcPct val="150000"/>
              </a:lnSpc>
              <a:buFont typeface="Arial" panose="020B0604020202020204" pitchFamily="34" charset="0"/>
              <a:buChar char="•"/>
            </a:pPr>
            <a:r>
              <a:rPr lang="vi-VN" sz="2400" dirty="0"/>
              <a:t>Các chức năng chính hoạt động ổn định:</a:t>
            </a:r>
          </a:p>
          <a:p>
            <a:pPr marL="800100" lvl="1" indent="-342900">
              <a:lnSpc>
                <a:spcPct val="150000"/>
              </a:lnSpc>
              <a:buFont typeface="Arial" panose="020B0604020202020204" pitchFamily="34" charset="0"/>
              <a:buChar char="-"/>
            </a:pPr>
            <a:r>
              <a:rPr lang="vi-VN" sz="2400" dirty="0"/>
              <a:t>Quản lý người dùng</a:t>
            </a:r>
          </a:p>
          <a:p>
            <a:pPr marL="800100" lvl="1" indent="-342900">
              <a:lnSpc>
                <a:spcPct val="150000"/>
              </a:lnSpc>
              <a:buFont typeface="Arial" panose="020B0604020202020204" pitchFamily="34" charset="0"/>
              <a:buChar char="-"/>
            </a:pPr>
            <a:r>
              <a:rPr lang="vi-VN" sz="2400" dirty="0"/>
              <a:t>Quản lý hoạt động</a:t>
            </a:r>
          </a:p>
          <a:p>
            <a:pPr marL="800100" lvl="1" indent="-342900">
              <a:lnSpc>
                <a:spcPct val="150000"/>
              </a:lnSpc>
              <a:buFont typeface="Arial" panose="020B0604020202020204" pitchFamily="34" charset="0"/>
              <a:buChar char="-"/>
            </a:pPr>
            <a:r>
              <a:rPr lang="vi-VN" sz="2400" dirty="0"/>
              <a:t>Đăng ký cho tình nguyện viên</a:t>
            </a:r>
          </a:p>
          <a:p>
            <a:pPr marL="800100" lvl="1" indent="-342900">
              <a:lnSpc>
                <a:spcPct val="150000"/>
              </a:lnSpc>
              <a:buFont typeface="Arial" panose="020B0604020202020204" pitchFamily="34" charset="0"/>
              <a:buChar char="-"/>
            </a:pPr>
            <a:r>
              <a:rPr lang="vi-VN" sz="2400" dirty="0"/>
              <a:t>Thống kê</a:t>
            </a:r>
          </a:p>
          <a:p>
            <a:pPr marL="342900" indent="-342900">
              <a:lnSpc>
                <a:spcPct val="150000"/>
              </a:lnSpc>
              <a:buFont typeface="Arial" panose="020B0604020202020204" pitchFamily="34" charset="0"/>
              <a:buChar char="•"/>
            </a:pPr>
            <a:r>
              <a:rPr lang="vi-VN" sz="2400" dirty="0"/>
              <a:t>Giao diện:</a:t>
            </a:r>
          </a:p>
          <a:p>
            <a:pPr marL="800100" lvl="1" indent="-342900">
              <a:lnSpc>
                <a:spcPct val="150000"/>
              </a:lnSpc>
              <a:buFont typeface="Arial" panose="020B0604020202020204" pitchFamily="34" charset="0"/>
              <a:buChar char="-"/>
            </a:pPr>
            <a:r>
              <a:rPr lang="vi-VN" sz="2400" dirty="0"/>
              <a:t>Thân thiện</a:t>
            </a:r>
          </a:p>
          <a:p>
            <a:pPr marL="800100" lvl="1" indent="-342900">
              <a:lnSpc>
                <a:spcPct val="150000"/>
              </a:lnSpc>
              <a:buFont typeface="Arial" panose="020B0604020202020204" pitchFamily="34" charset="0"/>
              <a:buChar char="-"/>
            </a:pPr>
            <a:r>
              <a:rPr lang="vi-VN" sz="2400" dirty="0"/>
              <a:t>Dễ sử dụng</a:t>
            </a:r>
          </a:p>
          <a:p>
            <a:pPr marL="800100" lvl="1" indent="-342900">
              <a:lnSpc>
                <a:spcPct val="150000"/>
              </a:lnSpc>
              <a:buFont typeface="Arial" panose="020B0604020202020204" pitchFamily="34" charset="0"/>
              <a:buChar char="-"/>
            </a:pPr>
            <a:r>
              <a:rPr lang="vi-VN" sz="2400" dirty="0"/>
              <a:t>Phù hợp với nhiều nhóm người dùng</a:t>
            </a:r>
          </a:p>
        </p:txBody>
      </p:sp>
      <p:sp>
        <p:nvSpPr>
          <p:cNvPr id="4" name="Hộp Văn bản 3">
            <a:extLst>
              <a:ext uri="{FF2B5EF4-FFF2-40B4-BE49-F238E27FC236}">
                <a16:creationId xmlns:a16="http://schemas.microsoft.com/office/drawing/2014/main" id="{5B8F2FDE-9D32-E05B-C933-A1A227C6FF9C}"/>
              </a:ext>
            </a:extLst>
          </p:cNvPr>
          <p:cNvSpPr txBox="1"/>
          <p:nvPr/>
        </p:nvSpPr>
        <p:spPr>
          <a:xfrm>
            <a:off x="900000" y="252000"/>
            <a:ext cx="7593760" cy="523220"/>
          </a:xfrm>
          <a:prstGeom prst="rect">
            <a:avLst/>
          </a:prstGeom>
          <a:noFill/>
        </p:spPr>
        <p:txBody>
          <a:bodyPr wrap="square" rtlCol="0">
            <a:spAutoFit/>
          </a:bodyPr>
          <a:lstStyle/>
          <a:p>
            <a:pPr marL="399600" indent="-540000">
              <a:buFont typeface="+mj-lt"/>
              <a:buAutoNum type="romanUcPeriod" startAt="6"/>
            </a:pPr>
            <a:r>
              <a:rPr lang="vi-VN" sz="2800" b="1" dirty="0">
                <a:solidFill>
                  <a:srgbClr val="002060"/>
                </a:solidFill>
                <a:latin typeface="Arial" panose="020B0604020202020204" pitchFamily="34" charset="0"/>
                <a:cs typeface="Arial" panose="020B0604020202020204" pitchFamily="34" charset="0"/>
              </a:rPr>
              <a:t>KẾT QUẢ ĐẠT ĐƯỢC</a:t>
            </a:r>
          </a:p>
        </p:txBody>
      </p:sp>
    </p:spTree>
    <p:extLst>
      <p:ext uri="{BB962C8B-B14F-4D97-AF65-F5344CB8AC3E}">
        <p14:creationId xmlns:p14="http://schemas.microsoft.com/office/powerpoint/2010/main" val="1254726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B5518-B271-89A5-2195-58DABD53AA24}"/>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9A4E7E3D-28CC-7219-4B70-BB75673C8A6A}"/>
              </a:ext>
            </a:extLst>
          </p:cNvPr>
          <p:cNvSpPr txBox="1"/>
          <p:nvPr/>
        </p:nvSpPr>
        <p:spPr>
          <a:xfrm>
            <a:off x="900000" y="252000"/>
            <a:ext cx="7593760" cy="523220"/>
          </a:xfrm>
          <a:prstGeom prst="rect">
            <a:avLst/>
          </a:prstGeom>
          <a:noFill/>
        </p:spPr>
        <p:txBody>
          <a:bodyPr wrap="square" rtlCol="0">
            <a:spAutoFit/>
          </a:bodyPr>
          <a:lstStyle/>
          <a:p>
            <a:pPr marL="399600" indent="-540000">
              <a:buFont typeface="+mj-lt"/>
              <a:buAutoNum type="romanUcPeriod" startAt="7"/>
            </a:pPr>
            <a:r>
              <a:rPr lang="vi-VN" sz="2800" b="1" dirty="0">
                <a:solidFill>
                  <a:srgbClr val="002060"/>
                </a:solidFill>
                <a:latin typeface="Arial" panose="020B0604020202020204" pitchFamily="34" charset="0"/>
                <a:cs typeface="Arial" panose="020B0604020202020204" pitchFamily="34" charset="0"/>
              </a:rPr>
              <a:t>KẾT LUẬN VÀ HƯỚNG PHÁT TRIỂN</a:t>
            </a:r>
          </a:p>
        </p:txBody>
      </p:sp>
      <p:sp>
        <p:nvSpPr>
          <p:cNvPr id="3" name="Hộp Văn bản 2">
            <a:extLst>
              <a:ext uri="{FF2B5EF4-FFF2-40B4-BE49-F238E27FC236}">
                <a16:creationId xmlns:a16="http://schemas.microsoft.com/office/drawing/2014/main" id="{72D93A12-62D2-E91A-AA50-FD2B88053508}"/>
              </a:ext>
            </a:extLst>
          </p:cNvPr>
          <p:cNvSpPr txBox="1"/>
          <p:nvPr/>
        </p:nvSpPr>
        <p:spPr>
          <a:xfrm>
            <a:off x="720000" y="1080000"/>
            <a:ext cx="10800000" cy="5009833"/>
          </a:xfrm>
          <a:prstGeom prst="rect">
            <a:avLst/>
          </a:prstGeom>
          <a:noFill/>
        </p:spPr>
        <p:txBody>
          <a:bodyPr wrap="square" rtlCol="0">
            <a:spAutoFit/>
          </a:bodyPr>
          <a:lstStyle/>
          <a:p>
            <a:pPr>
              <a:lnSpc>
                <a:spcPct val="150000"/>
              </a:lnSpc>
            </a:pPr>
            <a:r>
              <a:rPr lang="vi-VN" sz="2400" b="1" dirty="0"/>
              <a:t>Kết luận</a:t>
            </a:r>
          </a:p>
          <a:p>
            <a:pPr marL="800100" lvl="1" indent="-342900">
              <a:lnSpc>
                <a:spcPct val="150000"/>
              </a:lnSpc>
              <a:buFont typeface="Arial" panose="020B0604020202020204" pitchFamily="34" charset="0"/>
              <a:buChar char="•"/>
            </a:pPr>
            <a:r>
              <a:rPr lang="vi-VN" sz="2400" dirty="0"/>
              <a:t>Đề tài đã đạt được mục tiêu đề ra</a:t>
            </a:r>
          </a:p>
          <a:p>
            <a:pPr marL="800100" lvl="1" indent="-342900">
              <a:lnSpc>
                <a:spcPct val="150000"/>
              </a:lnSpc>
              <a:buFont typeface="Arial" panose="020B0604020202020204" pitchFamily="34" charset="0"/>
              <a:buChar char="•"/>
            </a:pPr>
            <a:r>
              <a:rPr lang="vi-VN" sz="2400" dirty="0"/>
              <a:t>Hệ thống có thể áp dụng thực tế cho các tổ chức phi lợi nhuận</a:t>
            </a:r>
          </a:p>
          <a:p>
            <a:pPr marL="800100" lvl="1" indent="-342900">
              <a:lnSpc>
                <a:spcPct val="150000"/>
              </a:lnSpc>
              <a:buFont typeface="Arial" panose="020B0604020202020204" pitchFamily="34" charset="0"/>
              <a:buChar char="•"/>
            </a:pPr>
            <a:r>
              <a:rPr lang="vi-VN" sz="2400" dirty="0"/>
              <a:t>Góp phần nâng cao hiệu quả quản lý và điều phối tình nguyện viên</a:t>
            </a:r>
          </a:p>
          <a:p>
            <a:pPr>
              <a:lnSpc>
                <a:spcPct val="150000"/>
              </a:lnSpc>
            </a:pPr>
            <a:r>
              <a:rPr lang="vi-VN" sz="2400" b="1" dirty="0"/>
              <a:t>Hướng phát triển</a:t>
            </a:r>
          </a:p>
          <a:p>
            <a:pPr marL="800100" lvl="1" indent="-342900">
              <a:lnSpc>
                <a:spcPct val="150000"/>
              </a:lnSpc>
              <a:buFont typeface="Arial" panose="020B0604020202020204" pitchFamily="34" charset="0"/>
              <a:buChar char="•"/>
            </a:pPr>
            <a:r>
              <a:rPr lang="vi-VN" sz="2400" dirty="0"/>
              <a:t>Phát triển ứng dụng </a:t>
            </a:r>
            <a:r>
              <a:rPr lang="vi-VN" sz="2400" dirty="0" err="1"/>
              <a:t>mobile</a:t>
            </a:r>
            <a:endParaRPr lang="vi-VN" sz="2400" dirty="0"/>
          </a:p>
          <a:p>
            <a:pPr marL="800100" lvl="1" indent="-342900">
              <a:lnSpc>
                <a:spcPct val="150000"/>
              </a:lnSpc>
              <a:buFont typeface="Arial" panose="020B0604020202020204" pitchFamily="34" charset="0"/>
              <a:buChar char="•"/>
            </a:pPr>
            <a:r>
              <a:rPr lang="vi-VN" sz="2400" dirty="0"/>
              <a:t>Tích hợp thông báo </a:t>
            </a:r>
            <a:r>
              <a:rPr lang="vi-VN" sz="2400" dirty="0" err="1"/>
              <a:t>real-time</a:t>
            </a:r>
            <a:endParaRPr lang="vi-VN" sz="2400" dirty="0"/>
          </a:p>
          <a:p>
            <a:pPr marL="800100" lvl="1" indent="-342900">
              <a:lnSpc>
                <a:spcPct val="150000"/>
              </a:lnSpc>
              <a:buFont typeface="Arial" panose="020B0604020202020204" pitchFamily="34" charset="0"/>
              <a:buChar char="•"/>
            </a:pPr>
            <a:r>
              <a:rPr lang="vi-VN" sz="2400" dirty="0"/>
              <a:t>Bổ sung chức năng đánh giá tình nguyện viên</a:t>
            </a:r>
          </a:p>
          <a:p>
            <a:pPr marL="800100" lvl="1" indent="-342900">
              <a:lnSpc>
                <a:spcPct val="150000"/>
              </a:lnSpc>
              <a:buFont typeface="Arial" panose="020B0604020202020204" pitchFamily="34" charset="0"/>
              <a:buChar char="•"/>
            </a:pPr>
            <a:r>
              <a:rPr lang="vi-VN" sz="2400" dirty="0"/>
              <a:t>Mở rộng báo cáo và thống kê nâng cao</a:t>
            </a:r>
          </a:p>
        </p:txBody>
      </p:sp>
    </p:spTree>
    <p:extLst>
      <p:ext uri="{BB962C8B-B14F-4D97-AF65-F5344CB8AC3E}">
        <p14:creationId xmlns:p14="http://schemas.microsoft.com/office/powerpoint/2010/main" val="357010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553D685-2D18-CA7F-01FA-BA3BFA7A87D8}"/>
            </a:ext>
          </a:extLst>
        </p:cNvPr>
        <p:cNvGrpSpPr/>
        <p:nvPr/>
      </p:nvGrpSpPr>
      <p:grpSpPr>
        <a:xfrm>
          <a:off x="0" y="0"/>
          <a:ext cx="0" cy="0"/>
          <a:chOff x="0" y="0"/>
          <a:chExt cx="0" cy="0"/>
        </a:xfrm>
      </p:grpSpPr>
      <p:sp>
        <p:nvSpPr>
          <p:cNvPr id="4" name="Hộp Văn bản 3">
            <a:extLst>
              <a:ext uri="{FF2B5EF4-FFF2-40B4-BE49-F238E27FC236}">
                <a16:creationId xmlns:a16="http://schemas.microsoft.com/office/drawing/2014/main" id="{06DB4CBA-AF19-456E-6A75-99D64595BD9F}"/>
              </a:ext>
            </a:extLst>
          </p:cNvPr>
          <p:cNvSpPr txBox="1"/>
          <p:nvPr/>
        </p:nvSpPr>
        <p:spPr>
          <a:xfrm>
            <a:off x="1153360" y="2429720"/>
            <a:ext cx="9885278" cy="1200329"/>
          </a:xfrm>
          <a:prstGeom prst="rect">
            <a:avLst/>
          </a:prstGeom>
          <a:noFill/>
        </p:spPr>
        <p:txBody>
          <a:bodyPr wrap="square" rtlCol="0">
            <a:spAutoFit/>
          </a:bodyPr>
          <a:lstStyle/>
          <a:p>
            <a:pPr algn="just"/>
            <a:r>
              <a:rPr lang="vi-VN" sz="2400" dirty="0">
                <a:solidFill>
                  <a:srgbClr val="002060"/>
                </a:solidFill>
              </a:rPr>
              <a:t>	Em muốn cảm ơn sâu sắc cho sự giúp đỡ và hướng dẫn, mà em đã nhận được từ giảng viên hướng dẫn trong quá trình hoàn thành đồ án chuyên ngành trong lĩnh vực Công nghệ Thông tin</a:t>
            </a:r>
            <a:endParaRPr lang="en-US" sz="2400" dirty="0">
              <a:solidFill>
                <a:srgbClr val="002060"/>
              </a:solidFill>
              <a:cs typeface="Arial" panose="020B0604020202020204" pitchFamily="34" charset="0"/>
            </a:endParaRPr>
          </a:p>
        </p:txBody>
      </p:sp>
      <p:sp>
        <p:nvSpPr>
          <p:cNvPr id="2" name="Hộp Văn bản 1">
            <a:extLst>
              <a:ext uri="{FF2B5EF4-FFF2-40B4-BE49-F238E27FC236}">
                <a16:creationId xmlns:a16="http://schemas.microsoft.com/office/drawing/2014/main" id="{14F73682-713F-A2B8-D89B-742370938B4D}"/>
              </a:ext>
            </a:extLst>
          </p:cNvPr>
          <p:cNvSpPr txBox="1"/>
          <p:nvPr/>
        </p:nvSpPr>
        <p:spPr>
          <a:xfrm>
            <a:off x="3899647" y="279063"/>
            <a:ext cx="4392705" cy="461665"/>
          </a:xfrm>
          <a:prstGeom prst="rect">
            <a:avLst/>
          </a:prstGeom>
          <a:noFill/>
        </p:spPr>
        <p:txBody>
          <a:bodyPr wrap="square" rtlCol="0">
            <a:spAutoFit/>
          </a:bodyPr>
          <a:lstStyle/>
          <a:p>
            <a:pPr algn="ctr"/>
            <a:r>
              <a:rPr lang="vi-VN" sz="2400" b="1" dirty="0">
                <a:solidFill>
                  <a:srgbClr val="0070C0"/>
                </a:solidFill>
              </a:rPr>
              <a:t>ĐỒ ÁN CHUYÊN NGÀNH</a:t>
            </a:r>
            <a:endParaRPr lang="en-US" sz="2400" b="1" dirty="0">
              <a:solidFill>
                <a:srgbClr val="0070C0"/>
              </a:solidFill>
            </a:endParaRPr>
          </a:p>
        </p:txBody>
      </p:sp>
      <p:sp>
        <p:nvSpPr>
          <p:cNvPr id="3" name="Tiêu đề 1">
            <a:extLst>
              <a:ext uri="{FF2B5EF4-FFF2-40B4-BE49-F238E27FC236}">
                <a16:creationId xmlns:a16="http://schemas.microsoft.com/office/drawing/2014/main" id="{5CD4A302-0383-E204-6DC4-8241E73F6548}"/>
              </a:ext>
            </a:extLst>
          </p:cNvPr>
          <p:cNvSpPr txBox="1">
            <a:spLocks/>
          </p:cNvSpPr>
          <p:nvPr/>
        </p:nvSpPr>
        <p:spPr>
          <a:xfrm>
            <a:off x="770898" y="740728"/>
            <a:ext cx="10650202" cy="122732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vi-VN" sz="2000" b="1" dirty="0">
                <a:latin typeface="Arial" panose="020B0604020202020204" pitchFamily="34" charset="0"/>
                <a:cs typeface="Arial" panose="020B0604020202020204" pitchFamily="34" charset="0"/>
              </a:rPr>
              <a:t>XÂY DỰNG HỆ THỐNG QUẢN LÝ VÀ HỖ TRỢ TÌNH NGUYỆN VIÊN</a:t>
            </a:r>
          </a:p>
          <a:p>
            <a:pPr algn="ctr"/>
            <a:r>
              <a:rPr lang="vi-VN" sz="2000" b="1" dirty="0">
                <a:latin typeface="Arial" panose="020B0604020202020204" pitchFamily="34" charset="0"/>
                <a:cs typeface="Arial" panose="020B0604020202020204" pitchFamily="34" charset="0"/>
              </a:rPr>
              <a:t>CHO TỔ CHỨC PHI LỢI NHUẬN</a:t>
            </a:r>
            <a:endParaRPr lang="en-US" sz="2000" b="1"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37979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714</TotalTime>
  <Words>795</Words>
  <Application>Microsoft Office PowerPoint</Application>
  <PresentationFormat>Màn hình rộng</PresentationFormat>
  <Paragraphs>129</Paragraphs>
  <Slides>21</Slides>
  <Notes>15</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21</vt:i4>
      </vt:variant>
    </vt:vector>
  </HeadingPairs>
  <TitlesOfParts>
    <vt:vector size="27" baseType="lpstr">
      <vt:lpstr>Arial</vt:lpstr>
      <vt:lpstr>Calibri</vt:lpstr>
      <vt:lpstr>Calibri Light</vt:lpstr>
      <vt:lpstr>Times New Roman</vt:lpstr>
      <vt:lpstr>Wingdings</vt:lpstr>
      <vt:lpstr>Chủ đề Office</vt:lpstr>
      <vt:lpstr>XÂY DỰNG HỆ THỐNG QUẢN LÝ VÀ HỖ TRỢ TÌNH NGUYỆN VIÊN CHO TỔ CHỨC PHI LỢI NHUẬN</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THỐNG QUẢN LÝ MUA BÁN HÀNG SECONDHAND</dc:title>
  <dc:creator>Nguyen Phuc Vinh</dc:creator>
  <cp:lastModifiedBy>Nguyen Phuc Vinh</cp:lastModifiedBy>
  <cp:revision>204</cp:revision>
  <dcterms:created xsi:type="dcterms:W3CDTF">2025-01-05T09:07:45Z</dcterms:created>
  <dcterms:modified xsi:type="dcterms:W3CDTF">2026-01-09T01:57:54Z</dcterms:modified>
</cp:coreProperties>
</file>